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cc2a33bdd4396" /><Relationship Type="http://schemas.openxmlformats.org/officeDocument/2006/relationships/extended-properties" Target="/docProps/app.xml" Id="R108d7f87a90b48dc" /><Relationship Type="http://schemas.openxmlformats.org/officeDocument/2006/relationships/officeDocument" Target="/ppt/presentation.xml" Id="R3418397bd92049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c9f93c593c4ea8"/>
  </p:sldMasterIdLst>
  <p:notesMasterIdLst>
    <p:notesMasterId xmlns:r="http://schemas.openxmlformats.org/officeDocument/2006/relationships" r:id="R61150f4380ae4d4e"/>
  </p:notesMasterIdLst>
  <p:sldIdLst>
    <p:sldId xmlns:r="http://schemas.openxmlformats.org/officeDocument/2006/relationships" id="256" r:id="R2c90cb69d4324a13"/>
    <p:sldId xmlns:r="http://schemas.openxmlformats.org/officeDocument/2006/relationships" id="257" r:id="R7d5065f5f66c4f48"/>
    <p:sldId xmlns:r="http://schemas.openxmlformats.org/officeDocument/2006/relationships" id="258" r:id="Rb614c660b41f495f"/>
    <p:sldId xmlns:r="http://schemas.openxmlformats.org/officeDocument/2006/relationships" id="259" r:id="R548383a7e30c46f2"/>
    <p:sldId xmlns:r="http://schemas.openxmlformats.org/officeDocument/2006/relationships" id="260" r:id="R401b89b284a64d18"/>
    <p:sldId xmlns:r="http://schemas.openxmlformats.org/officeDocument/2006/relationships" id="261" r:id="Rc6f0a2b32a3f4f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9f93c593c4ea8" /><Relationship Type="http://schemas.openxmlformats.org/officeDocument/2006/relationships/theme" Target="/ppt/theme/theme1.xml" Id="Rb2bb84fea974480b" /><Relationship Type="http://schemas.openxmlformats.org/officeDocument/2006/relationships/notesMaster" Target="/ppt/notesMasters/notesMaster1.xml" Id="R61150f4380ae4d4e" /><Relationship Type="http://schemas.openxmlformats.org/officeDocument/2006/relationships/presProps" Target="/ppt/presProps.xml" Id="R06e7496e874d4ca7" /><Relationship Type="http://schemas.openxmlformats.org/officeDocument/2006/relationships/viewProps" Target="/ppt/viewProps.xml" Id="R5f09dd858d0947a8" /><Relationship Type="http://schemas.openxmlformats.org/officeDocument/2006/relationships/tableStyles" Target="/ppt/tableStyles.xml" Id="Rdea837a98435482a" /><Relationship Type="http://schemas.openxmlformats.org/officeDocument/2006/relationships/slide" Target="/ppt/slides/slide1.xml" Id="R2c90cb69d4324a13" /><Relationship Type="http://schemas.openxmlformats.org/officeDocument/2006/relationships/slide" Target="/ppt/slides/slide2.xml" Id="R7d5065f5f66c4f48" /><Relationship Type="http://schemas.openxmlformats.org/officeDocument/2006/relationships/slide" Target="/ppt/slides/slide3.xml" Id="Rb614c660b41f495f" /><Relationship Type="http://schemas.openxmlformats.org/officeDocument/2006/relationships/slide" Target="/ppt/slides/slide4.xml" Id="R548383a7e30c46f2" /><Relationship Type="http://schemas.openxmlformats.org/officeDocument/2006/relationships/slide" Target="/ppt/slides/slide5.xml" Id="R401b89b284a64d18" /><Relationship Type="http://schemas.openxmlformats.org/officeDocument/2006/relationships/slide" Target="/ppt/slides/slide6.xml" Id="Rc6f0a2b32a3f4f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4b67e0bcb36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8debedd0141e8" /><Relationship Type="http://schemas.openxmlformats.org/officeDocument/2006/relationships/notesMaster" Target="/ppt/notesMasters/notesMaster1.xml" Id="Rc40082517d8f43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0d668714f4f2d" /><Relationship Type="http://schemas.openxmlformats.org/officeDocument/2006/relationships/notesMaster" Target="/ppt/notesMasters/notesMaster1.xml" Id="R010b8914450440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a2b45686924a8b" /><Relationship Type="http://schemas.openxmlformats.org/officeDocument/2006/relationships/notesMaster" Target="/ppt/notesMasters/notesMaster1.xml" Id="Rd87960110854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42f7e8c0834f46" /><Relationship Type="http://schemas.openxmlformats.org/officeDocument/2006/relationships/notesMaster" Target="/ppt/notesMasters/notesMaster1.xml" Id="R25d54f0a6ced4f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73cfe1d05f42de" /><Relationship Type="http://schemas.openxmlformats.org/officeDocument/2006/relationships/notesMaster" Target="/ppt/notesMasters/notesMaster1.xml" Id="Rf8f0c102aff54d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b9cc84aeb54849" /><Relationship Type="http://schemas.openxmlformats.org/officeDocument/2006/relationships/notesMaster" Target="/ppt/notesMasters/notesMaster1.xml" Id="R8516c6afd02e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74df2634541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323b3a19164412" /><Relationship Type="http://schemas.openxmlformats.org/officeDocument/2006/relationships/slideLayout" Target="/ppt/slideLayouts/slideLayout2.xml" Id="Re3aa9168f09c46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a9168f09c46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f3ff1d41545ec" /><Relationship Type="http://schemas.openxmlformats.org/officeDocument/2006/relationships/image" Target="/ppt/media/image.jpeg" Id="R9a3c797b916b4698" /><Relationship Type="http://schemas.openxmlformats.org/officeDocument/2006/relationships/image" Target="/ppt/media/image.png" Id="R786d2be272a44259" /><Relationship Type="http://schemas.openxmlformats.org/officeDocument/2006/relationships/notesSlide" Target="/ppt/notesSlides/notesSlide1.xml" Id="R5e806449c9ac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ac0b3f19a14c34" /><Relationship Type="http://schemas.openxmlformats.org/officeDocument/2006/relationships/image" Target="/ppt/media/image2.png" Id="Rb30abb34e45343d9" /><Relationship Type="http://schemas.openxmlformats.org/officeDocument/2006/relationships/notesSlide" Target="/ppt/notesSlides/notesSlide2.xml" Id="R56bf5b2b2f2e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303a82fae4422" /><Relationship Type="http://schemas.openxmlformats.org/officeDocument/2006/relationships/image" Target="/ppt/media/image3.png" Id="R84b960e84d224209" /><Relationship Type="http://schemas.openxmlformats.org/officeDocument/2006/relationships/notesSlide" Target="/ppt/notesSlides/notesSlide3.xml" Id="Rf4da2cf822044d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654340a8b434d" /><Relationship Type="http://schemas.openxmlformats.org/officeDocument/2006/relationships/notesSlide" Target="/ppt/notesSlides/notesSlide4.xml" Id="R6f66bd4edc0244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dd980a0a140ba" /><Relationship Type="http://schemas.openxmlformats.org/officeDocument/2006/relationships/image" Target="/ppt/media/image4.png" Id="R930364f9a113473c" /><Relationship Type="http://schemas.openxmlformats.org/officeDocument/2006/relationships/notesSlide" Target="/ppt/notesSlides/notesSlide5.xml" Id="Rda908904ef3e43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7da3c9800c4445" /><Relationship Type="http://schemas.openxmlformats.org/officeDocument/2006/relationships/notesSlide" Target="/ppt/notesSlides/notesSlide6.xml" Id="Re3f40fd8a9934d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49212DD-FC37-497B-92FD-D635F27B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g-depth">
            <a:extLst xmlns:a="http://schemas.openxmlformats.org/drawingml/2006/main">
              <a:ext uri="{FF2B5EF4-FFF2-40B4-BE49-F238E27FC236}">
                <a16:creationId xmlns:a16="http://schemas.microsoft.com/office/drawing/2014/main" id="{C972F151-EB7E-4919-B39C-5984880D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g-accent-line">
            <a:extLst xmlns:a="http://schemas.openxmlformats.org/drawingml/2006/main">
              <a:ext uri="{FF2B5EF4-FFF2-40B4-BE49-F238E27FC236}">
                <a16:creationId xmlns:a16="http://schemas.microsoft.com/office/drawing/2014/main" id="{99211C7C-5274-497A-BCE4-73CFA5EF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A6F9F4E3-FBED-46C9-9E44-ED3AF8D4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371A89A-8045-4FF9-B959-9202CB0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TRIUMPH LAUNDRY GUIDE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c797b916b4698"/>
          <a:stretch xmlns:a="http://schemas.openxmlformats.org/drawingml/2006/main"/>
        </p:blipFill>
        <p:spPr>
          <a:xfrm xmlns:a="http://schemas.openxmlformats.org/drawingml/2006/main">
            <a:off x="609600" y="8763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7ACB296-35DF-4170-8C65-CA822FB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A single operations reference for chemicals, programs, and floor decisions.</a:t>
            </a:r>
          </a:p>
        </p:txBody>
      </p:sp>
      <p:sp>
        <p:nvSpPr>
          <p:cNvPr id="8" name="body-copy">
            <a:extLst xmlns:a="http://schemas.openxmlformats.org/drawingml/2006/main">
              <a:ext uri="{FF2B5EF4-FFF2-40B4-BE49-F238E27FC236}">
                <a16:creationId xmlns:a16="http://schemas.microsoft.com/office/drawing/2014/main" id="{3A945039-4BEB-4628-AF20-07FCCBBC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4810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A concise product presentation for the internal Triumph Luxury Hotel Laundry Department webapp. The guide brings daily chemical lookup, wash formulas, dosage tables, and team navigation into one browser-based workspace.</a:t>
            </a:r>
          </a:p>
        </p:txBody>
      </p:sp>
      <p:sp>
        <p:nvSpPr>
          <p:cNvPr id="9" name="stat-panel">
            <a:extLst xmlns:a="http://schemas.openxmlformats.org/drawingml/2006/main">
              <a:ext uri="{FF2B5EF4-FFF2-40B4-BE49-F238E27FC236}">
                <a16:creationId xmlns:a16="http://schemas.microsoft.com/office/drawing/2014/main" id="{E421C22D-87E3-4C39-AC49-F88B703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257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B3C59"/>
            </a:solidFill>
            <a:prstDash val="solid"/>
          </a:ln>
        </p:spPr>
      </p:sp>
      <p:sp>
        <p:nvSpPr>
          <p:cNvPr id="10" name="stat-value">
            <a:extLst xmlns:a="http://schemas.openxmlformats.org/drawingml/2006/main">
              <a:ext uri="{FF2B5EF4-FFF2-40B4-BE49-F238E27FC236}">
                <a16:creationId xmlns:a16="http://schemas.microsoft.com/office/drawing/2014/main" id="{F7EFA8A6-470A-43F8-BFE1-4C645C71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1" name="stat-label">
            <a:extLst xmlns:a="http://schemas.openxmlformats.org/drawingml/2006/main">
              <a:ext uri="{FF2B5EF4-FFF2-40B4-BE49-F238E27FC236}">
                <a16:creationId xmlns:a16="http://schemas.microsoft.com/office/drawing/2014/main" id="{4CDE2DA1-9AD6-4790-B7B5-D1FB2C5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Chemicals</a:t>
            </a:r>
          </a:p>
        </p:txBody>
      </p:sp>
      <p:sp>
        <p:nvSpPr>
          <p:cNvPr id="12" name="stat-note">
            <a:extLst xmlns:a="http://schemas.openxmlformats.org/drawingml/2006/main">
              <a:ext uri="{FF2B5EF4-FFF2-40B4-BE49-F238E27FC236}">
                <a16:creationId xmlns:a16="http://schemas.microsoft.com/office/drawing/2014/main" id="{4A5CBE9B-1AA2-43A6-8999-3D4D22E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Clax product reference</a:t>
            </a:r>
          </a:p>
        </p:txBody>
      </p:sp>
      <p:sp>
        <p:nvSpPr>
          <p:cNvPr id="13" name="stat-panel">
            <a:extLst xmlns:a="http://schemas.openxmlformats.org/drawingml/2006/main">
              <a:ext uri="{FF2B5EF4-FFF2-40B4-BE49-F238E27FC236}">
                <a16:creationId xmlns:a16="http://schemas.microsoft.com/office/drawing/2014/main" id="{D31C707B-A33C-407A-9D6C-A5B2744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1257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B3C59"/>
            </a:solidFill>
            <a:prstDash val="solid"/>
          </a:ln>
        </p:spPr>
      </p:sp>
      <p:sp>
        <p:nvSpPr>
          <p:cNvPr id="14" name="stat-value">
            <a:extLst xmlns:a="http://schemas.openxmlformats.org/drawingml/2006/main">
              <a:ext uri="{FF2B5EF4-FFF2-40B4-BE49-F238E27FC236}">
                <a16:creationId xmlns:a16="http://schemas.microsoft.com/office/drawing/2014/main" id="{A494452F-99FD-44A2-8632-1093E9A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48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C87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9C877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5" name="stat-label">
            <a:extLst xmlns:a="http://schemas.openxmlformats.org/drawingml/2006/main">
              <a:ext uri="{FF2B5EF4-FFF2-40B4-BE49-F238E27FC236}">
                <a16:creationId xmlns:a16="http://schemas.microsoft.com/office/drawing/2014/main" id="{493D1271-C39C-48C8-8AF1-324AA2E2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81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Programs</a:t>
            </a:r>
          </a:p>
        </p:txBody>
      </p:sp>
      <p:sp>
        <p:nvSpPr>
          <p:cNvPr id="16" name="stat-note">
            <a:extLst xmlns:a="http://schemas.openxmlformats.org/drawingml/2006/main">
              <a:ext uri="{FF2B5EF4-FFF2-40B4-BE49-F238E27FC236}">
                <a16:creationId xmlns:a16="http://schemas.microsoft.com/office/drawing/2014/main" id="{4B82F170-9CFB-4FA7-9BF3-B280299E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816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Standard wash formulas</a:t>
            </a:r>
          </a:p>
        </p:txBody>
      </p:sp>
      <p:sp>
        <p:nvSpPr>
          <p:cNvPr id="17" name="stat-panel">
            <a:extLst xmlns:a="http://schemas.openxmlformats.org/drawingml/2006/main">
              <a:ext uri="{FF2B5EF4-FFF2-40B4-BE49-F238E27FC236}">
                <a16:creationId xmlns:a16="http://schemas.microsoft.com/office/drawing/2014/main" id="{7FB2DE26-B84D-45F8-8428-E13A7777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1257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B3C59"/>
            </a:solidFill>
            <a:prstDash val="solid"/>
          </a:ln>
        </p:spPr>
      </p:sp>
      <p:sp>
        <p:nvSpPr>
          <p:cNvPr id="18" name="stat-value">
            <a:extLst xmlns:a="http://schemas.openxmlformats.org/drawingml/2006/main">
              <a:ext uri="{FF2B5EF4-FFF2-40B4-BE49-F238E27FC236}">
                <a16:creationId xmlns:a16="http://schemas.microsoft.com/office/drawing/2014/main" id="{28918C34-CEAF-4367-ADA5-D56D553E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482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E6A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FE6A2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9" name="stat-label">
            <a:extLst xmlns:a="http://schemas.openxmlformats.org/drawingml/2006/main">
              <a:ext uri="{FF2B5EF4-FFF2-40B4-BE49-F238E27FC236}">
                <a16:creationId xmlns:a16="http://schemas.microsoft.com/office/drawing/2014/main" id="{DA35E753-1E7F-415A-8682-53531AAD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81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Types</a:t>
            </a:r>
          </a:p>
        </p:txBody>
      </p:sp>
      <p:sp>
        <p:nvSpPr>
          <p:cNvPr id="20" name="stat-note">
            <a:extLst xmlns:a="http://schemas.openxmlformats.org/drawingml/2006/main">
              <a:ext uri="{FF2B5EF4-FFF2-40B4-BE49-F238E27FC236}">
                <a16:creationId xmlns:a16="http://schemas.microsoft.com/office/drawing/2014/main" id="{22F59818-1D45-448E-AAFE-78DAE3A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816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Filtered by function</a:t>
            </a:r>
          </a:p>
        </p:txBody>
      </p:sp>
      <p:sp>
        <p:nvSpPr>
          <p:cNvPr id="21" name="landing-screen-frame">
            <a:extLst xmlns:a="http://schemas.openxmlformats.org/drawingml/2006/main">
              <a:ext uri="{FF2B5EF4-FFF2-40B4-BE49-F238E27FC236}">
                <a16:creationId xmlns:a16="http://schemas.microsoft.com/office/drawing/2014/main" id="{7DF6B150-371E-45D7-B751-62D1D246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14400"/>
            <a:ext cx="53721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26385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d2be272a44259"/>
          <a:srcRect xmlns:a="http://schemas.openxmlformats.org/drawingml/2006/main" l="6090" t="0" r="60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990600"/>
            <a:ext cx="5219700" cy="3714750"/>
          </a:xfrm>
          <a:prstGeom xmlns:a="http://schemas.openxmlformats.org/drawingml/2006/main" prst="rect">
            <a:avLst/>
          </a:prstGeom>
        </p:spPr>
      </p:pic>
      <p:sp>
        <p:nvSpPr>
          <p:cNvPr id="23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0ED3FF99-AA9A-4247-BED7-5317054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Home hub</a:t>
            </a:r>
          </a:p>
        </p:txBody>
      </p:sp>
      <p:sp>
        <p:nvSpPr>
          <p:cNvPr id="24" name="caption-body">
            <a:extLst xmlns:a="http://schemas.openxmlformats.org/drawingml/2006/main">
              <a:ext uri="{FF2B5EF4-FFF2-40B4-BE49-F238E27FC236}">
                <a16:creationId xmlns:a16="http://schemas.microsoft.com/office/drawing/2014/main" id="{0AC1E259-2EB8-4273-9A7E-4E1609B5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One entry point separates chemical reference, washing programs, and tips for fast routing.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16BC70-C893-42C2-B6BB-43F694E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2B5F55D-770A-4BB4-948D-1D6A49AE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D9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D91"/>
                </a:solidFill>
                <a:latin typeface="Aptos"/>
                <a:ea typeface="Aptos"/>
                <a:cs typeface="Aptos"/>
              </a:rPr>
              <a:t>Source: local Triumph Laundry Guide webapp files</a:t>
            </a:r>
          </a:p>
        </p:txBody>
      </p:sp>
      <p:sp>
        <p:nvSpPr>
          <p:cNvPr id="2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96A650F-5EFA-45F3-8C5A-E4F7D190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63974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7CB0E8B1-99A7-4D79-B547-D16C694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g-depth">
            <a:extLst xmlns:a="http://schemas.openxmlformats.org/drawingml/2006/main">
              <a:ext uri="{FF2B5EF4-FFF2-40B4-BE49-F238E27FC236}">
                <a16:creationId xmlns:a16="http://schemas.microsoft.com/office/drawing/2014/main" id="{14C06474-4F36-4F6F-99E7-9FC8F6EE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g-accent-line">
            <a:extLst xmlns:a="http://schemas.openxmlformats.org/drawingml/2006/main">
              <a:ext uri="{FF2B5EF4-FFF2-40B4-BE49-F238E27FC236}">
                <a16:creationId xmlns:a16="http://schemas.microsoft.com/office/drawing/2014/main" id="{31C826EB-689B-4104-8E82-E6D788B1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741AE0C-DC94-4D1B-909F-27E77108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F4FB0917-175D-47BB-BA4B-F83D5E6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C7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C7E8"/>
                </a:solidFill>
                <a:latin typeface="Aptos"/>
                <a:ea typeface="Aptos"/>
                <a:cs typeface="Aptos"/>
              </a:rPr>
              <a:t>CHEMICAL LOOKUP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EFA0956-C9CA-4370-B6E0-A698691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Chemical selection is reduced to search, filter, verify.</a:t>
            </a:r>
          </a:p>
        </p:txBody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2B0CBEE0-F052-4EBB-ABD1-F80C113B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68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chemical section is designed around the question operators ask first: what product fits this cycle, and what dosage or safety detail should be checked before use?</a:t>
            </a:r>
          </a:p>
        </p:txBody>
      </p:sp>
      <p:sp>
        <p:nvSpPr>
          <p:cNvPr id="8" name="chemical-screen-frame">
            <a:extLst xmlns:a="http://schemas.openxmlformats.org/drawingml/2006/main">
              <a:ext uri="{FF2B5EF4-FFF2-40B4-BE49-F238E27FC236}">
                <a16:creationId xmlns:a16="http://schemas.microsoft.com/office/drawing/2014/main" id="{06E16BD9-9C3F-4C9D-864F-637A930C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723900"/>
            <a:ext cx="55816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26385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abb34e45343d9"/>
          <a:srcRect xmlns:a="http://schemas.openxmlformats.org/drawingml/2006/main" l="4560" t="0" r="45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800100"/>
            <a:ext cx="5429250" cy="3733800"/>
          </a:xfrm>
          <a:prstGeom xmlns:a="http://schemas.openxmlformats.org/drawingml/2006/main" prst="rect">
            <a:avLst/>
          </a:prstGeom>
        </p:spPr>
      </p:pic>
      <p:sp>
        <p:nvSpPr>
          <p:cNvPr id="10" name="category-proof">
            <a:extLst xmlns:a="http://schemas.openxmlformats.org/drawingml/2006/main">
              <a:ext uri="{FF2B5EF4-FFF2-40B4-BE49-F238E27FC236}">
                <a16:creationId xmlns:a16="http://schemas.microsoft.com/office/drawing/2014/main" id="{301DD1D4-855D-4596-9EBE-EA67EDD0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4629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83A58"/>
            </a:solidFill>
            <a:prstDash val="solid"/>
          </a:ln>
        </p:spPr>
      </p:sp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C4B0970-3912-43FC-A565-39B71647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Reference coverage</a:t>
            </a:r>
          </a:p>
        </p:txBody>
      </p:sp>
      <p:sp>
        <p:nvSpPr>
          <p:cNvPr id="12" name="bar-label">
            <a:extLst xmlns:a="http://schemas.openxmlformats.org/drawingml/2006/main">
              <a:ext uri="{FF2B5EF4-FFF2-40B4-BE49-F238E27FC236}">
                <a16:creationId xmlns:a16="http://schemas.microsoft.com/office/drawing/2014/main" id="{26F0BF73-F8EC-4C2F-8DCD-54AA5B8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Bleach</a:t>
            </a:r>
          </a:p>
        </p:txBody>
      </p:sp>
      <p:sp>
        <p:nvSpPr>
          <p:cNvPr id="13" name="bar-track">
            <a:extLst xmlns:a="http://schemas.openxmlformats.org/drawingml/2006/main">
              <a:ext uri="{FF2B5EF4-FFF2-40B4-BE49-F238E27FC236}">
                <a16:creationId xmlns:a16="http://schemas.microsoft.com/office/drawing/2014/main" id="{FA1D44E0-8ADA-4D03-95E6-B2E1DCD0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909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bar-value">
            <a:extLst xmlns:a="http://schemas.openxmlformats.org/drawingml/2006/main">
              <a:ext uri="{FF2B5EF4-FFF2-40B4-BE49-F238E27FC236}">
                <a16:creationId xmlns:a16="http://schemas.microsoft.com/office/drawing/2014/main" id="{8EF3E1CB-8978-4A3A-9F18-34DB772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909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5BE05DD2-3EC5-4CC2-B93D-D9E0079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528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bar-label">
            <a:extLst xmlns:a="http://schemas.openxmlformats.org/drawingml/2006/main">
              <a:ext uri="{FF2B5EF4-FFF2-40B4-BE49-F238E27FC236}">
                <a16:creationId xmlns:a16="http://schemas.microsoft.com/office/drawing/2014/main" id="{38D473C9-B888-4FF1-9B8A-EADFC128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Neutralizer</a:t>
            </a:r>
          </a:p>
        </p:txBody>
      </p:sp>
      <p:sp>
        <p:nvSpPr>
          <p:cNvPr id="17" name="bar-track">
            <a:extLst xmlns:a="http://schemas.openxmlformats.org/drawingml/2006/main">
              <a:ext uri="{FF2B5EF4-FFF2-40B4-BE49-F238E27FC236}">
                <a16:creationId xmlns:a16="http://schemas.microsoft.com/office/drawing/2014/main" id="{07F95448-625B-43F7-A213-D9601C8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957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bar-value">
            <a:extLst xmlns:a="http://schemas.openxmlformats.org/drawingml/2006/main">
              <a:ext uri="{FF2B5EF4-FFF2-40B4-BE49-F238E27FC236}">
                <a16:creationId xmlns:a16="http://schemas.microsoft.com/office/drawing/2014/main" id="{B22761D0-F4C5-4F71-A8A8-FD0C881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957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F79BB6A3-3613-49B7-8AB5-A2256252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576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bar-label">
            <a:extLst xmlns:a="http://schemas.openxmlformats.org/drawingml/2006/main">
              <a:ext uri="{FF2B5EF4-FFF2-40B4-BE49-F238E27FC236}">
                <a16:creationId xmlns:a16="http://schemas.microsoft.com/office/drawing/2014/main" id="{7A185092-083B-476E-9C56-AE32E662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Detergent</a:t>
            </a:r>
          </a:p>
        </p:txBody>
      </p:sp>
      <p:sp>
        <p:nvSpPr>
          <p:cNvPr id="21" name="bar-track">
            <a:extLst xmlns:a="http://schemas.openxmlformats.org/drawingml/2006/main">
              <a:ext uri="{FF2B5EF4-FFF2-40B4-BE49-F238E27FC236}">
                <a16:creationId xmlns:a16="http://schemas.microsoft.com/office/drawing/2014/main" id="{241E0250-6367-437E-97F8-59C5271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005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ar-value">
            <a:extLst xmlns:a="http://schemas.openxmlformats.org/drawingml/2006/main">
              <a:ext uri="{FF2B5EF4-FFF2-40B4-BE49-F238E27FC236}">
                <a16:creationId xmlns:a16="http://schemas.microsoft.com/office/drawing/2014/main" id="{5CAAF7F8-62BA-4387-AEEB-BA10BD7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005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535DF9EA-9A0D-43E5-A605-68B58B43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624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bar-label">
            <a:extLst xmlns:a="http://schemas.openxmlformats.org/drawingml/2006/main">
              <a:ext uri="{FF2B5EF4-FFF2-40B4-BE49-F238E27FC236}">
                <a16:creationId xmlns:a16="http://schemas.microsoft.com/office/drawing/2014/main" id="{D2FA0A3A-1057-4070-AB4E-2207FFF8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Softener</a:t>
            </a:r>
          </a:p>
        </p:txBody>
      </p:sp>
      <p:sp>
        <p:nvSpPr>
          <p:cNvPr id="25" name="bar-track">
            <a:extLst xmlns:a="http://schemas.openxmlformats.org/drawingml/2006/main">
              <a:ext uri="{FF2B5EF4-FFF2-40B4-BE49-F238E27FC236}">
                <a16:creationId xmlns:a16="http://schemas.microsoft.com/office/drawing/2014/main" id="{FC747C32-034B-46ED-BE0B-E1099DDF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053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bar-value">
            <a:extLst xmlns:a="http://schemas.openxmlformats.org/drawingml/2006/main">
              <a:ext uri="{FF2B5EF4-FFF2-40B4-BE49-F238E27FC236}">
                <a16:creationId xmlns:a16="http://schemas.microsoft.com/office/drawing/2014/main" id="{99C3BFBA-A387-4C64-9C5F-5AF1CD89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05375"/>
            <a:ext cx="1285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3C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CCD4E717-684A-4976-B370-8F12BABA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672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bar-label">
            <a:extLst xmlns:a="http://schemas.openxmlformats.org/drawingml/2006/main">
              <a:ext uri="{FF2B5EF4-FFF2-40B4-BE49-F238E27FC236}">
                <a16:creationId xmlns:a16="http://schemas.microsoft.com/office/drawing/2014/main" id="{561247C3-B9F6-4061-9852-8CDED4B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720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29" name="bar-track">
            <a:extLst xmlns:a="http://schemas.openxmlformats.org/drawingml/2006/main">
              <a:ext uri="{FF2B5EF4-FFF2-40B4-BE49-F238E27FC236}">
                <a16:creationId xmlns:a16="http://schemas.microsoft.com/office/drawing/2014/main" id="{F3F1E1DA-ECCD-4BA7-AD6B-17C337D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0175"/>
            <a:ext cx="25717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bar-value">
            <a:extLst xmlns:a="http://schemas.openxmlformats.org/drawingml/2006/main">
              <a:ext uri="{FF2B5EF4-FFF2-40B4-BE49-F238E27FC236}">
                <a16:creationId xmlns:a16="http://schemas.microsoft.com/office/drawing/2014/main" id="{C8F1BBB1-BD14-4700-B470-87BB102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0175"/>
            <a:ext cx="1285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B44E769E-8585-45F7-9151-678F21A6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720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2" name="flow-label">
            <a:extLst xmlns:a="http://schemas.openxmlformats.org/drawingml/2006/main">
              <a:ext uri="{FF2B5EF4-FFF2-40B4-BE49-F238E27FC236}">
                <a16:creationId xmlns:a16="http://schemas.microsoft.com/office/drawing/2014/main" id="{DB200EA8-89A2-4A17-97C9-4EABC6F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81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Lookup path</a:t>
            </a:r>
          </a:p>
        </p:txBody>
      </p:sp>
      <p:sp>
        <p:nvSpPr>
          <p:cNvPr id="33" name="flow-step">
            <a:extLst xmlns:a="http://schemas.openxmlformats.org/drawingml/2006/main">
              <a:ext uri="{FF2B5EF4-FFF2-40B4-BE49-F238E27FC236}">
                <a16:creationId xmlns:a16="http://schemas.microsoft.com/office/drawing/2014/main" id="{90FD846C-F78E-4BE1-BC4F-399329D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6730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BF3B076-B7A4-4AE3-988B-09EF94F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197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5" name="step-title">
            <a:extLst xmlns:a="http://schemas.openxmlformats.org/drawingml/2006/main">
              <a:ext uri="{FF2B5EF4-FFF2-40B4-BE49-F238E27FC236}">
                <a16:creationId xmlns:a16="http://schemas.microsoft.com/office/drawing/2014/main" id="{AC729684-3B23-4E30-AB04-5925C5CC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91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36" name="step-note">
            <a:extLst xmlns:a="http://schemas.openxmlformats.org/drawingml/2006/main">
              <a:ext uri="{FF2B5EF4-FFF2-40B4-BE49-F238E27FC236}">
                <a16:creationId xmlns:a16="http://schemas.microsoft.com/office/drawing/2014/main" id="{1AE16F5D-FC55-4C50-AF44-B082A6ED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292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name, code, or function</a:t>
            </a:r>
          </a:p>
        </p:txBody>
      </p:sp>
      <p:sp>
        <p:nvSpPr>
          <p:cNvPr id="37" name="step-connector">
            <a:extLst xmlns:a="http://schemas.openxmlformats.org/drawingml/2006/main">
              <a:ext uri="{FF2B5EF4-FFF2-40B4-BE49-F238E27FC236}">
                <a16:creationId xmlns:a16="http://schemas.microsoft.com/office/drawing/2014/main" id="{7EF3923D-59BE-4452-9CB8-28E066A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low-step">
            <a:extLst xmlns:a="http://schemas.openxmlformats.org/drawingml/2006/main">
              <a:ext uri="{FF2B5EF4-FFF2-40B4-BE49-F238E27FC236}">
                <a16:creationId xmlns:a16="http://schemas.microsoft.com/office/drawing/2014/main" id="{6B5A13D0-0318-46CE-A5F0-51B9B0E5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3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E1A6BD5-E2DF-4CBE-BB7F-9004ED27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197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40" name="step-title">
            <a:extLst xmlns:a="http://schemas.openxmlformats.org/drawingml/2006/main">
              <a:ext uri="{FF2B5EF4-FFF2-40B4-BE49-F238E27FC236}">
                <a16:creationId xmlns:a16="http://schemas.microsoft.com/office/drawing/2014/main" id="{574A636F-CFD4-4DDF-B4D8-AECB4E39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91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41" name="step-note">
            <a:extLst xmlns:a="http://schemas.openxmlformats.org/drawingml/2006/main">
              <a:ext uri="{FF2B5EF4-FFF2-40B4-BE49-F238E27FC236}">
                <a16:creationId xmlns:a16="http://schemas.microsoft.com/office/drawing/2014/main" id="{86D16B7E-8A72-491D-9213-ABBB4770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292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by chemical type</a:t>
            </a:r>
          </a:p>
        </p:txBody>
      </p:sp>
      <p:sp>
        <p:nvSpPr>
          <p:cNvPr id="42" name="step-connector">
            <a:extLst xmlns:a="http://schemas.openxmlformats.org/drawingml/2006/main">
              <a:ext uri="{FF2B5EF4-FFF2-40B4-BE49-F238E27FC236}">
                <a16:creationId xmlns:a16="http://schemas.microsoft.com/office/drawing/2014/main" id="{B04C5612-1281-4DEC-980E-86450010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387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low-step">
            <a:extLst xmlns:a="http://schemas.openxmlformats.org/drawingml/2006/main">
              <a:ext uri="{FF2B5EF4-FFF2-40B4-BE49-F238E27FC236}">
                <a16:creationId xmlns:a16="http://schemas.microsoft.com/office/drawing/2014/main" id="{D6E2F12B-2861-475F-95DB-6DF6249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4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3BEF0C7-2DDA-47BD-A2F3-EFFDAD9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5" name="step-title">
            <a:extLst xmlns:a="http://schemas.openxmlformats.org/drawingml/2006/main">
              <a:ext uri="{FF2B5EF4-FFF2-40B4-BE49-F238E27FC236}">
                <a16:creationId xmlns:a16="http://schemas.microsoft.com/office/drawing/2014/main" id="{45D740AA-DE48-492F-8CB2-01779F2F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91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6" name="step-note">
            <a:extLst xmlns:a="http://schemas.openxmlformats.org/drawingml/2006/main">
              <a:ext uri="{FF2B5EF4-FFF2-40B4-BE49-F238E27FC236}">
                <a16:creationId xmlns:a16="http://schemas.microsoft.com/office/drawing/2014/main" id="{C6A72266-6D5B-4451-935D-57891C50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292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dosage, data, safety</a:t>
            </a:r>
          </a:p>
        </p:txBody>
      </p:sp>
      <p:sp>
        <p:nvSpPr>
          <p:cNvPr id="47" name="pill">
            <a:extLst xmlns:a="http://schemas.openxmlformats.org/drawingml/2006/main">
              <a:ext uri="{FF2B5EF4-FFF2-40B4-BE49-F238E27FC236}">
                <a16:creationId xmlns:a16="http://schemas.microsoft.com/office/drawing/2014/main" id="{CF3D99CC-BA06-4100-807F-D026254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E9C877"/>
            </a:solidFill>
            <a:prstDash val="solid"/>
          </a:ln>
        </p:spPr>
      </p:sp>
      <p:sp>
        <p:nvSpPr>
          <p:cNvPr id="48" name="pill-label">
            <a:extLst xmlns:a="http://schemas.openxmlformats.org/drawingml/2006/main">
              <a:ext uri="{FF2B5EF4-FFF2-40B4-BE49-F238E27FC236}">
                <a16:creationId xmlns:a16="http://schemas.microsoft.com/office/drawing/2014/main" id="{125F5DB8-9D73-43FD-8951-CC2BDA6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C8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C877"/>
                </a:solidFill>
                <a:latin typeface="Aptos"/>
                <a:ea typeface="Aptos"/>
                <a:cs typeface="Aptos"/>
              </a:rPr>
              <a:t>Hypo</a:t>
            </a:r>
          </a:p>
        </p:txBody>
      </p:sp>
      <p:sp>
        <p:nvSpPr>
          <p:cNvPr id="49" name="pill">
            <a:extLst xmlns:a="http://schemas.openxmlformats.org/drawingml/2006/main">
              <a:ext uri="{FF2B5EF4-FFF2-40B4-BE49-F238E27FC236}">
                <a16:creationId xmlns:a16="http://schemas.microsoft.com/office/drawing/2014/main" id="{DB6519AD-D1B3-45CD-848F-741DFF9D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388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D63C96"/>
            </a:solidFill>
            <a:prstDash val="solid"/>
          </a:ln>
        </p:spPr>
      </p:sp>
      <p:sp>
        <p:nvSpPr>
          <p:cNvPr id="50" name="pill-label">
            <a:extLst xmlns:a="http://schemas.openxmlformats.org/drawingml/2006/main">
              <a:ext uri="{FF2B5EF4-FFF2-40B4-BE49-F238E27FC236}">
                <a16:creationId xmlns:a16="http://schemas.microsoft.com/office/drawing/2014/main" id="{FCA94829-2558-4225-8190-31FD57EF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864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3C9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3C96"/>
                </a:solidFill>
                <a:latin typeface="Aptos"/>
                <a:ea typeface="Aptos"/>
                <a:cs typeface="Aptos"/>
              </a:rPr>
              <a:t>Soft Extra</a:t>
            </a:r>
          </a:p>
        </p:txBody>
      </p:sp>
      <p:sp>
        <p:nvSpPr>
          <p:cNvPr id="51" name="pill">
            <a:extLst xmlns:a="http://schemas.openxmlformats.org/drawingml/2006/main">
              <a:ext uri="{FF2B5EF4-FFF2-40B4-BE49-F238E27FC236}">
                <a16:creationId xmlns:a16="http://schemas.microsoft.com/office/drawing/2014/main" id="{F3289227-8D15-41B1-BB80-2515639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388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6EA8FF"/>
            </a:solidFill>
            <a:prstDash val="solid"/>
          </a:ln>
        </p:spPr>
      </p:sp>
      <p:sp>
        <p:nvSpPr>
          <p:cNvPr id="52" name="pill-label">
            <a:extLst xmlns:a="http://schemas.openxmlformats.org/drawingml/2006/main">
              <a:ext uri="{FF2B5EF4-FFF2-40B4-BE49-F238E27FC236}">
                <a16:creationId xmlns:a16="http://schemas.microsoft.com/office/drawing/2014/main" id="{FF84B734-3DA5-4E10-9172-8A72E716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8642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Build Lite</a:t>
            </a:r>
          </a:p>
        </p:txBody>
      </p:sp>
      <p:sp>
        <p:nvSpPr>
          <p:cNvPr id="53" name="pill">
            <a:extLst xmlns:a="http://schemas.openxmlformats.org/drawingml/2006/main">
              <a:ext uri="{FF2B5EF4-FFF2-40B4-BE49-F238E27FC236}">
                <a16:creationId xmlns:a16="http://schemas.microsoft.com/office/drawing/2014/main" id="{29A74BB3-E748-4E93-B9B8-4DBFDF05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388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6FE6A2"/>
            </a:solidFill>
            <a:prstDash val="solid"/>
          </a:ln>
        </p:spPr>
      </p:sp>
      <p:sp>
        <p:nvSpPr>
          <p:cNvPr id="54" name="pill-label">
            <a:extLst xmlns:a="http://schemas.openxmlformats.org/drawingml/2006/main">
              <a:ext uri="{FF2B5EF4-FFF2-40B4-BE49-F238E27FC236}">
                <a16:creationId xmlns:a16="http://schemas.microsoft.com/office/drawing/2014/main" id="{0DD188BB-E5BA-478E-A59B-33FEFD7F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8642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FE6A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E6A2"/>
                </a:solidFill>
                <a:latin typeface="Aptos"/>
                <a:ea typeface="Aptos"/>
                <a:cs typeface="Aptos"/>
              </a:rPr>
              <a:t>CLAX 200</a:t>
            </a:r>
          </a:p>
        </p:txBody>
      </p:sp>
      <p:sp>
        <p:nvSpPr>
          <p:cNvPr id="5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0F79A2-9BC1-44B2-905B-78B9C1C0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56517B2-B54F-4F58-B639-16639EDA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D9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D91"/>
                </a:solidFill>
                <a:latin typeface="Aptos"/>
                <a:ea typeface="Aptos"/>
                <a:cs typeface="Aptos"/>
              </a:rPr>
              <a:t>Source: local Triumph Laundry Guide webapp files</a:t>
            </a:r>
          </a:p>
        </p:txBody>
      </p:sp>
      <p:sp>
        <p:nvSpPr>
          <p:cNvPr id="5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B01227E-5172-42CB-A45C-97FCABF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89526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7B6CEC1-C4C2-42D3-9DBC-C8BA03B2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g-depth">
            <a:extLst xmlns:a="http://schemas.openxmlformats.org/drawingml/2006/main">
              <a:ext uri="{FF2B5EF4-FFF2-40B4-BE49-F238E27FC236}">
                <a16:creationId xmlns:a16="http://schemas.microsoft.com/office/drawing/2014/main" id="{D6F82A31-1D70-4A90-81B0-6F51CEB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g-accent-line">
            <a:extLst xmlns:a="http://schemas.openxmlformats.org/drawingml/2006/main">
              <a:ext uri="{FF2B5EF4-FFF2-40B4-BE49-F238E27FC236}">
                <a16:creationId xmlns:a16="http://schemas.microsoft.com/office/drawing/2014/main" id="{F8FA5A5C-12CE-439D-8C9D-1D3A940D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CEDF0CAE-484D-4281-BB01-E732778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594B37D-21A7-4DCA-B65E-3234C616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WASH FORMULAS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6B797FC-A78D-4679-A640-A168DBF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571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Thirteen wash formulas standardize linen and uniform handling.</a:t>
            </a:r>
          </a:p>
        </p:txBody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E8CD1E29-D2CE-43F0-AB4C-466BD98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Program cards make operating parameters visible in one place: process step, water level, temperature, time, chemical, and dosage. The result is a shared reference for repeatable handling.</a:t>
            </a:r>
          </a:p>
        </p:txBody>
      </p:sp>
      <p:sp>
        <p:nvSpPr>
          <p:cNvPr id="8" name="program-screen-frame">
            <a:extLst xmlns:a="http://schemas.openxmlformats.org/drawingml/2006/main">
              <a:ext uri="{FF2B5EF4-FFF2-40B4-BE49-F238E27FC236}">
                <a16:creationId xmlns:a16="http://schemas.microsoft.com/office/drawing/2014/main" id="{3B48F934-E3F3-41E5-A561-D7799E6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66750"/>
            <a:ext cx="5105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26385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960e84d224209"/>
          <a:srcRect xmlns:a="http://schemas.openxmlformats.org/drawingml/2006/main" l="3571" t="0" r="3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742950"/>
            <a:ext cx="4953000" cy="3333750"/>
          </a:xfrm>
          <a:prstGeom xmlns:a="http://schemas.openxmlformats.org/drawingml/2006/main" prst="rect">
            <a:avLst/>
          </a:prstGeom>
        </p:spPr>
      </p:pic>
      <p:sp>
        <p:nvSpPr>
          <p:cNvPr id="10" name="family-matrix">
            <a:extLst xmlns:a="http://schemas.openxmlformats.org/drawingml/2006/main">
              <a:ext uri="{FF2B5EF4-FFF2-40B4-BE49-F238E27FC236}">
                <a16:creationId xmlns:a16="http://schemas.microsoft.com/office/drawing/2014/main" id="{CCA70DF5-E60C-423B-B5A3-BCE03DCA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5143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83A58"/>
            </a:solidFill>
            <a:prstDash val="solid"/>
          </a:ln>
        </p:spPr>
      </p:sp>
      <p:sp>
        <p:nvSpPr>
          <p:cNvPr id="11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DE009690-1E03-420C-BF28-ABD420E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6B7"/>
                </a:solidFill>
                <a:latin typeface="Aptos"/>
                <a:ea typeface="Aptos"/>
                <a:cs typeface="Aptos"/>
              </a:rPr>
              <a:t>Program family</a:t>
            </a:r>
          </a:p>
        </p:txBody>
      </p:sp>
      <p:sp>
        <p:nvSpPr>
          <p:cNvPr id="12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84E12443-CD0C-44B6-8BE9-56D0C7AE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6B7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13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5A0DDD21-E386-4226-AD8A-67BCEBFC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76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6B7"/>
                </a:solidFill>
                <a:latin typeface="Aptos"/>
                <a:ea typeface="Aptos"/>
                <a:cs typeface="Aptos"/>
              </a:rPr>
              <a:t>Examples</a:t>
            </a:r>
          </a:p>
        </p:txBody>
      </p:sp>
      <p:sp>
        <p:nvSpPr>
          <p:cNvPr id="14" name="row-rule">
            <a:extLst xmlns:a="http://schemas.openxmlformats.org/drawingml/2006/main">
              <a:ext uri="{FF2B5EF4-FFF2-40B4-BE49-F238E27FC236}">
                <a16:creationId xmlns:a16="http://schemas.microsoft.com/office/drawing/2014/main" id="{91303D8C-FF18-44DE-9AD2-560D39C6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family-marker">
            <a:extLst xmlns:a="http://schemas.openxmlformats.org/drawingml/2006/main">
              <a:ext uri="{FF2B5EF4-FFF2-40B4-BE49-F238E27FC236}">
                <a16:creationId xmlns:a16="http://schemas.microsoft.com/office/drawing/2014/main" id="{A04E523D-F50D-41C7-9E13-B059FDA0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family-name">
            <a:extLst xmlns:a="http://schemas.openxmlformats.org/drawingml/2006/main">
              <a:ext uri="{FF2B5EF4-FFF2-40B4-BE49-F238E27FC236}">
                <a16:creationId xmlns:a16="http://schemas.microsoft.com/office/drawing/2014/main" id="{B9C4D1CE-467F-43B8-9271-61533A28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Room linen</a:t>
            </a:r>
          </a:p>
        </p:txBody>
      </p:sp>
      <p:sp>
        <p:nvSpPr>
          <p:cNvPr id="17" name="family-count">
            <a:extLst xmlns:a="http://schemas.openxmlformats.org/drawingml/2006/main">
              <a:ext uri="{FF2B5EF4-FFF2-40B4-BE49-F238E27FC236}">
                <a16:creationId xmlns:a16="http://schemas.microsoft.com/office/drawing/2014/main" id="{11D18E51-E61D-4A65-BECE-53A0A375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004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7C7E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family-example">
            <a:extLst xmlns:a="http://schemas.openxmlformats.org/drawingml/2006/main">
              <a:ext uri="{FF2B5EF4-FFF2-40B4-BE49-F238E27FC236}">
                <a16:creationId xmlns:a16="http://schemas.microsoft.com/office/drawing/2014/main" id="{6BDC5C74-13A1-4B4F-BD95-E923CBD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195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Bed sheets, pillow cases</a:t>
            </a:r>
          </a:p>
        </p:txBody>
      </p:sp>
      <p:sp>
        <p:nvSpPr>
          <p:cNvPr id="19" name="row-rule">
            <a:extLst xmlns:a="http://schemas.openxmlformats.org/drawingml/2006/main">
              <a:ext uri="{FF2B5EF4-FFF2-40B4-BE49-F238E27FC236}">
                <a16:creationId xmlns:a16="http://schemas.microsoft.com/office/drawing/2014/main" id="{84E92573-F50E-4A92-BC78-149903CA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amily-marker">
            <a:extLst xmlns:a="http://schemas.openxmlformats.org/drawingml/2006/main">
              <a:ext uri="{FF2B5EF4-FFF2-40B4-BE49-F238E27FC236}">
                <a16:creationId xmlns:a16="http://schemas.microsoft.com/office/drawing/2014/main" id="{6AF4AE9E-3C13-4F70-9D54-9A5D744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family-name">
            <a:extLst xmlns:a="http://schemas.openxmlformats.org/drawingml/2006/main">
              <a:ext uri="{FF2B5EF4-FFF2-40B4-BE49-F238E27FC236}">
                <a16:creationId xmlns:a16="http://schemas.microsoft.com/office/drawing/2014/main" id="{E5CF7192-56E7-4363-AB1E-5E9D41F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Towels</a:t>
            </a:r>
          </a:p>
        </p:txBody>
      </p:sp>
      <p:sp>
        <p:nvSpPr>
          <p:cNvPr id="22" name="family-count">
            <a:extLst xmlns:a="http://schemas.openxmlformats.org/drawingml/2006/main">
              <a:ext uri="{FF2B5EF4-FFF2-40B4-BE49-F238E27FC236}">
                <a16:creationId xmlns:a16="http://schemas.microsoft.com/office/drawing/2014/main" id="{88C30D1B-AFDF-419A-8400-16A5A4A0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243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9C87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9C87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family-example">
            <a:extLst xmlns:a="http://schemas.openxmlformats.org/drawingml/2006/main">
              <a:ext uri="{FF2B5EF4-FFF2-40B4-BE49-F238E27FC236}">
                <a16:creationId xmlns:a16="http://schemas.microsoft.com/office/drawing/2014/main" id="{88363FF4-A6DC-42EB-93BA-B13C22A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433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White, pool, colored towels</a:t>
            </a:r>
          </a:p>
        </p:txBody>
      </p:sp>
      <p:sp>
        <p:nvSpPr>
          <p:cNvPr id="24" name="row-rule">
            <a:extLst xmlns:a="http://schemas.openxmlformats.org/drawingml/2006/main">
              <a:ext uri="{FF2B5EF4-FFF2-40B4-BE49-F238E27FC236}">
                <a16:creationId xmlns:a16="http://schemas.microsoft.com/office/drawing/2014/main" id="{FD525D8A-76C4-425A-B3D5-14725D50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amily-marker">
            <a:extLst xmlns:a="http://schemas.openxmlformats.org/drawingml/2006/main">
              <a:ext uri="{FF2B5EF4-FFF2-40B4-BE49-F238E27FC236}">
                <a16:creationId xmlns:a16="http://schemas.microsoft.com/office/drawing/2014/main" id="{97508428-0DA1-485C-9C16-17228EF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amily-name">
            <a:extLst xmlns:a="http://schemas.openxmlformats.org/drawingml/2006/main">
              <a:ext uri="{FF2B5EF4-FFF2-40B4-BE49-F238E27FC236}">
                <a16:creationId xmlns:a16="http://schemas.microsoft.com/office/drawing/2014/main" id="{A1BC9B8F-B1FC-40BA-948C-991E87D7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Table linen</a:t>
            </a:r>
          </a:p>
        </p:txBody>
      </p:sp>
      <p:sp>
        <p:nvSpPr>
          <p:cNvPr id="27" name="family-count">
            <a:extLst xmlns:a="http://schemas.openxmlformats.org/drawingml/2006/main">
              <a:ext uri="{FF2B5EF4-FFF2-40B4-BE49-F238E27FC236}">
                <a16:creationId xmlns:a16="http://schemas.microsoft.com/office/drawing/2014/main" id="{4A4C2EE6-F522-41AD-A402-8B05CD1A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481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E6A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FE6A2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8" name="family-example">
            <a:extLst xmlns:a="http://schemas.openxmlformats.org/drawingml/2006/main">
              <a:ext uri="{FF2B5EF4-FFF2-40B4-BE49-F238E27FC236}">
                <a16:creationId xmlns:a16="http://schemas.microsoft.com/office/drawing/2014/main" id="{78A52873-BA78-4EE2-86D2-82BA9B06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White and colored table linen</a:t>
            </a:r>
          </a:p>
        </p:txBody>
      </p:sp>
      <p:sp>
        <p:nvSpPr>
          <p:cNvPr id="29" name="row-rule">
            <a:extLst xmlns:a="http://schemas.openxmlformats.org/drawingml/2006/main">
              <a:ext uri="{FF2B5EF4-FFF2-40B4-BE49-F238E27FC236}">
                <a16:creationId xmlns:a16="http://schemas.microsoft.com/office/drawing/2014/main" id="{E90C0FB0-AF46-4B35-94A8-B1EE09FC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amily-marker">
            <a:extLst xmlns:a="http://schemas.openxmlformats.org/drawingml/2006/main">
              <a:ext uri="{FF2B5EF4-FFF2-40B4-BE49-F238E27FC236}">
                <a16:creationId xmlns:a16="http://schemas.microsoft.com/office/drawing/2014/main" id="{C5D3412C-145C-4F05-9CA9-2818498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amily-name">
            <a:extLst xmlns:a="http://schemas.openxmlformats.org/drawingml/2006/main">
              <a:ext uri="{FF2B5EF4-FFF2-40B4-BE49-F238E27FC236}">
                <a16:creationId xmlns:a16="http://schemas.microsoft.com/office/drawing/2014/main" id="{B0060C5C-15AB-4BE7-A533-A453C20D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Uniforms &amp; colors</a:t>
            </a:r>
          </a:p>
        </p:txBody>
      </p:sp>
      <p:sp>
        <p:nvSpPr>
          <p:cNvPr id="32" name="family-count">
            <a:extLst xmlns:a="http://schemas.openxmlformats.org/drawingml/2006/main">
              <a:ext uri="{FF2B5EF4-FFF2-40B4-BE49-F238E27FC236}">
                <a16:creationId xmlns:a16="http://schemas.microsoft.com/office/drawing/2014/main" id="{C6AC616F-6842-448C-9A22-9F1966D9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A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EA8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3" name="family-example">
            <a:extLst xmlns:a="http://schemas.openxmlformats.org/drawingml/2006/main">
              <a:ext uri="{FF2B5EF4-FFF2-40B4-BE49-F238E27FC236}">
                <a16:creationId xmlns:a16="http://schemas.microsoft.com/office/drawing/2014/main" id="{021B008D-B6E1-49D6-AF07-EF29D18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910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Kitchen jacket, uniforms, light colors</a:t>
            </a:r>
          </a:p>
        </p:txBody>
      </p:sp>
      <p:sp>
        <p:nvSpPr>
          <p:cNvPr id="34" name="row-rule">
            <a:extLst xmlns:a="http://schemas.openxmlformats.org/drawingml/2006/main">
              <a:ext uri="{FF2B5EF4-FFF2-40B4-BE49-F238E27FC236}">
                <a16:creationId xmlns:a16="http://schemas.microsoft.com/office/drawing/2014/main" id="{0A53A635-39D7-48A7-AD46-C6A89AE7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amily-marker">
            <a:extLst xmlns:a="http://schemas.openxmlformats.org/drawingml/2006/main">
              <a:ext uri="{FF2B5EF4-FFF2-40B4-BE49-F238E27FC236}">
                <a16:creationId xmlns:a16="http://schemas.microsoft.com/office/drawing/2014/main" id="{B5BB4566-98A6-4D3D-8583-0F152626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amily-name">
            <a:extLst xmlns:a="http://schemas.openxmlformats.org/drawingml/2006/main">
              <a:ext uri="{FF2B5EF4-FFF2-40B4-BE49-F238E27FC236}">
                <a16:creationId xmlns:a16="http://schemas.microsoft.com/office/drawing/2014/main" id="{9E116286-F2CD-45DA-A95B-4909B1CC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Utility cycles</a:t>
            </a:r>
          </a:p>
        </p:txBody>
      </p:sp>
      <p:sp>
        <p:nvSpPr>
          <p:cNvPr id="37" name="family-count">
            <a:extLst xmlns:a="http://schemas.openxmlformats.org/drawingml/2006/main">
              <a:ext uri="{FF2B5EF4-FFF2-40B4-BE49-F238E27FC236}">
                <a16:creationId xmlns:a16="http://schemas.microsoft.com/office/drawing/2014/main" id="{E9CFDAF4-4CC7-4D32-B3EE-1C1A02E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6C5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66C59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8" name="family-example">
            <a:extLst xmlns:a="http://schemas.openxmlformats.org/drawingml/2006/main">
              <a:ext uri="{FF2B5EF4-FFF2-40B4-BE49-F238E27FC236}">
                <a16:creationId xmlns:a16="http://schemas.microsoft.com/office/drawing/2014/main" id="{514F39E6-9C0A-41B1-B2F4-C8EF1FEB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149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Sour bath and rinse only</a:t>
            </a:r>
          </a:p>
        </p:txBody>
      </p:sp>
      <p:sp>
        <p:nvSpPr>
          <p:cNvPr id="39" name="operator-note">
            <a:extLst xmlns:a="http://schemas.openxmlformats.org/drawingml/2006/main">
              <a:ext uri="{FF2B5EF4-FFF2-40B4-BE49-F238E27FC236}">
                <a16:creationId xmlns:a16="http://schemas.microsoft.com/office/drawing/2014/main" id="{5B80FC99-5551-43CA-AB63-386CF37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40" name="proof-label">
            <a:extLst xmlns:a="http://schemas.openxmlformats.org/drawingml/2006/main">
              <a:ext uri="{FF2B5EF4-FFF2-40B4-BE49-F238E27FC236}">
                <a16:creationId xmlns:a16="http://schemas.microsoft.com/office/drawing/2014/main" id="{862BBF6D-EC9E-45B9-8426-FEBB4F1B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Operational proof</a:t>
            </a:r>
          </a:p>
        </p:txBody>
      </p:sp>
      <p:sp>
        <p:nvSpPr>
          <p:cNvPr id="41" name="proof-body">
            <a:extLst xmlns:a="http://schemas.openxmlformats.org/drawingml/2006/main">
              <a:ext uri="{FF2B5EF4-FFF2-40B4-BE49-F238E27FC236}">
                <a16:creationId xmlns:a16="http://schemas.microsoft.com/office/drawing/2014/main" id="{04305B53-4404-45AF-9149-873450A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428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table grammar makes every program auditable: a staff member can compare step order, time, temperature, and chemical dose without switching documents.</a:t>
            </a:r>
          </a:p>
        </p:txBody>
      </p: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7D8046-CAAE-4B9B-8FEE-106D5BE4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2185627-4195-4C45-B8B4-3B714884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D9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D91"/>
                </a:solidFill>
                <a:latin typeface="Aptos"/>
                <a:ea typeface="Aptos"/>
                <a:cs typeface="Aptos"/>
              </a:rPr>
              <a:t>Source: local Triumph Laundry Guide webapp files</a:t>
            </a:r>
          </a:p>
        </p:txBody>
      </p:sp>
      <p:sp>
        <p:nvSpPr>
          <p:cNvPr id="4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53E837D-B3DC-4D91-8F57-8A21C66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9854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5A4865D-0EB4-4AB9-A623-43E4373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g-depth">
            <a:extLst xmlns:a="http://schemas.openxmlformats.org/drawingml/2006/main">
              <a:ext uri="{FF2B5EF4-FFF2-40B4-BE49-F238E27FC236}">
                <a16:creationId xmlns:a16="http://schemas.microsoft.com/office/drawing/2014/main" id="{4CBBBCE7-1691-474A-AC51-4973E688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g-accent-line">
            <a:extLst xmlns:a="http://schemas.openxmlformats.org/drawingml/2006/main">
              <a:ext uri="{FF2B5EF4-FFF2-40B4-BE49-F238E27FC236}">
                <a16:creationId xmlns:a16="http://schemas.microsoft.com/office/drawing/2014/main" id="{2F59D570-1BAB-4024-AB0E-E0C66C8F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F4F8F853-89F9-4669-A99D-8EFCF67B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0E60A44-21AA-4264-88FB-C29D2E03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A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E6A2"/>
                </a:solidFill>
                <a:latin typeface="Aptos"/>
                <a:ea typeface="Aptos"/>
                <a:cs typeface="Aptos"/>
              </a:rPr>
              <a:t>INFORMATION ARCHITECTURE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907FB0B-B330-4E79-A40A-4D2A7C1B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571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The structure follows the team path from question to procedure.</a:t>
            </a:r>
          </a:p>
        </p:txBody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E31022E9-91E8-4A7A-9FC0-5747FA28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app is not just a document dump. It separates decision routes so the operator can move from the type of question to the exact table or product card that resolves it.</a:t>
            </a:r>
          </a:p>
        </p:txBody>
      </p:sp>
      <p:sp>
        <p:nvSpPr>
          <p:cNvPr id="8" name="arch-node">
            <a:extLst xmlns:a="http://schemas.openxmlformats.org/drawingml/2006/main">
              <a:ext uri="{FF2B5EF4-FFF2-40B4-BE49-F238E27FC236}">
                <a16:creationId xmlns:a16="http://schemas.microsoft.com/office/drawing/2014/main" id="{1C37293C-5AE1-4EE8-9F8B-8C94537D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162"/>
            </a:solidFill>
            <a:prstDash val="solid"/>
          </a:ln>
        </p:spPr>
      </p:sp>
      <p:sp>
        <p:nvSpPr>
          <p:cNvPr id="9" name="node-marker">
            <a:extLst xmlns:a="http://schemas.openxmlformats.org/drawingml/2006/main">
              <a:ext uri="{FF2B5EF4-FFF2-40B4-BE49-F238E27FC236}">
                <a16:creationId xmlns:a16="http://schemas.microsoft.com/office/drawing/2014/main" id="{A185D8FB-75CD-436F-B8BA-7B7A3CA6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node-title">
            <a:extLst xmlns:a="http://schemas.openxmlformats.org/drawingml/2006/main">
              <a:ext uri="{FF2B5EF4-FFF2-40B4-BE49-F238E27FC236}">
                <a16:creationId xmlns:a16="http://schemas.microsoft.com/office/drawing/2014/main" id="{DAE640B2-B7A7-40E0-A66B-BFA51FE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Home hub</a:t>
            </a:r>
          </a:p>
        </p:txBody>
      </p:sp>
      <p:sp>
        <p:nvSpPr>
          <p:cNvPr id="11" name="node-note">
            <a:extLst xmlns:a="http://schemas.openxmlformats.org/drawingml/2006/main">
              <a:ext uri="{FF2B5EF4-FFF2-40B4-BE49-F238E27FC236}">
                <a16:creationId xmlns:a16="http://schemas.microsoft.com/office/drawing/2014/main" id="{55ABCDAF-3D76-4192-BB97-9246BAAF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Choose section</a:t>
            </a:r>
          </a:p>
        </p:txBody>
      </p:sp>
      <p:sp>
        <p:nvSpPr>
          <p:cNvPr id="12" name="arch-node">
            <a:extLst xmlns:a="http://schemas.openxmlformats.org/drawingml/2006/main">
              <a:ext uri="{FF2B5EF4-FFF2-40B4-BE49-F238E27FC236}">
                <a16:creationId xmlns:a16="http://schemas.microsoft.com/office/drawing/2014/main" id="{2AF1A7EC-9647-48AB-8508-E551CB4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162"/>
            </a:solidFill>
            <a:prstDash val="solid"/>
          </a:ln>
        </p:spPr>
      </p:sp>
      <p:sp>
        <p:nvSpPr>
          <p:cNvPr id="13" name="node-marker">
            <a:extLst xmlns:a="http://schemas.openxmlformats.org/drawingml/2006/main">
              <a:ext uri="{FF2B5EF4-FFF2-40B4-BE49-F238E27FC236}">
                <a16:creationId xmlns:a16="http://schemas.microsoft.com/office/drawing/2014/main" id="{72F7DCB9-A301-4EB3-9ADB-6A3ABBF3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node-title">
            <a:extLst xmlns:a="http://schemas.openxmlformats.org/drawingml/2006/main">
              <a:ext uri="{FF2B5EF4-FFF2-40B4-BE49-F238E27FC236}">
                <a16:creationId xmlns:a16="http://schemas.microsoft.com/office/drawing/2014/main" id="{C885B8A0-8C1A-440D-BF8E-1A8CC56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Chemicals</a:t>
            </a:r>
          </a:p>
        </p:txBody>
      </p:sp>
      <p:sp>
        <p:nvSpPr>
          <p:cNvPr id="15" name="node-note">
            <a:extLst xmlns:a="http://schemas.openxmlformats.org/drawingml/2006/main">
              <a:ext uri="{FF2B5EF4-FFF2-40B4-BE49-F238E27FC236}">
                <a16:creationId xmlns:a16="http://schemas.microsoft.com/office/drawing/2014/main" id="{B6A92FCC-2515-4738-9A31-74930D4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Search or filter</a:t>
            </a:r>
          </a:p>
        </p:txBody>
      </p:sp>
      <p:sp>
        <p:nvSpPr>
          <p:cNvPr id="16" name="arch-node">
            <a:extLst xmlns:a="http://schemas.openxmlformats.org/drawingml/2006/main">
              <a:ext uri="{FF2B5EF4-FFF2-40B4-BE49-F238E27FC236}">
                <a16:creationId xmlns:a16="http://schemas.microsoft.com/office/drawing/2014/main" id="{1B56C5D4-F2DA-4E18-BD02-0664365B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813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162"/>
            </a:solidFill>
            <a:prstDash val="solid"/>
          </a:ln>
        </p:spPr>
      </p:sp>
      <p:sp>
        <p:nvSpPr>
          <p:cNvPr id="17" name="node-marker">
            <a:extLst xmlns:a="http://schemas.openxmlformats.org/drawingml/2006/main">
              <a:ext uri="{FF2B5EF4-FFF2-40B4-BE49-F238E27FC236}">
                <a16:creationId xmlns:a16="http://schemas.microsoft.com/office/drawing/2014/main" id="{744324E2-13FA-402B-9CB4-5345FFB2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990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node-title">
            <a:extLst xmlns:a="http://schemas.openxmlformats.org/drawingml/2006/main">
              <a:ext uri="{FF2B5EF4-FFF2-40B4-BE49-F238E27FC236}">
                <a16:creationId xmlns:a16="http://schemas.microsoft.com/office/drawing/2014/main" id="{0B313C0F-A521-4103-9431-D289886D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Product card</a:t>
            </a:r>
          </a:p>
        </p:txBody>
      </p:sp>
      <p:sp>
        <p:nvSpPr>
          <p:cNvPr id="19" name="node-note">
            <a:extLst xmlns:a="http://schemas.openxmlformats.org/drawingml/2006/main">
              <a:ext uri="{FF2B5EF4-FFF2-40B4-BE49-F238E27FC236}">
                <a16:creationId xmlns:a16="http://schemas.microsoft.com/office/drawing/2014/main" id="{2BBCA386-67FE-4822-B953-64B2858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Purpose, dose, safety</a:t>
            </a:r>
          </a:p>
        </p:txBody>
      </p:sp>
      <p:sp>
        <p:nvSpPr>
          <p:cNvPr id="20" name="arch-node">
            <a:extLst xmlns:a="http://schemas.openxmlformats.org/drawingml/2006/main">
              <a:ext uri="{FF2B5EF4-FFF2-40B4-BE49-F238E27FC236}">
                <a16:creationId xmlns:a16="http://schemas.microsoft.com/office/drawing/2014/main" id="{15009A09-2493-4D12-840A-ECEC706C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162"/>
            </a:solidFill>
            <a:prstDash val="solid"/>
          </a:ln>
        </p:spPr>
      </p:sp>
      <p:sp>
        <p:nvSpPr>
          <p:cNvPr id="21" name="node-marker">
            <a:extLst xmlns:a="http://schemas.openxmlformats.org/drawingml/2006/main">
              <a:ext uri="{FF2B5EF4-FFF2-40B4-BE49-F238E27FC236}">
                <a16:creationId xmlns:a16="http://schemas.microsoft.com/office/drawing/2014/main" id="{307DA00D-537C-4CF6-906C-10E91799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node-title">
            <a:extLst xmlns:a="http://schemas.openxmlformats.org/drawingml/2006/main">
              <a:ext uri="{FF2B5EF4-FFF2-40B4-BE49-F238E27FC236}">
                <a16:creationId xmlns:a16="http://schemas.microsoft.com/office/drawing/2014/main" id="{F27EB45D-2C5A-4983-A23F-2423BC6B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Programs</a:t>
            </a:r>
          </a:p>
        </p:txBody>
      </p:sp>
      <p:sp>
        <p:nvSpPr>
          <p:cNvPr id="23" name="node-note">
            <a:extLst xmlns:a="http://schemas.openxmlformats.org/drawingml/2006/main">
              <a:ext uri="{FF2B5EF4-FFF2-40B4-BE49-F238E27FC236}">
                <a16:creationId xmlns:a16="http://schemas.microsoft.com/office/drawing/2014/main" id="{ADC5EDB3-B9F0-4B40-9E07-21C0D20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910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Select wash formula</a:t>
            </a:r>
          </a:p>
        </p:txBody>
      </p:sp>
      <p:sp>
        <p:nvSpPr>
          <p:cNvPr id="24" name="arch-node">
            <a:extLst xmlns:a="http://schemas.openxmlformats.org/drawingml/2006/main">
              <a:ext uri="{FF2B5EF4-FFF2-40B4-BE49-F238E27FC236}">
                <a16:creationId xmlns:a16="http://schemas.microsoft.com/office/drawing/2014/main" id="{267CD56C-EACF-4DE5-8B60-454D010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719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162"/>
            </a:solidFill>
            <a:prstDash val="solid"/>
          </a:ln>
        </p:spPr>
      </p:sp>
      <p:sp>
        <p:nvSpPr>
          <p:cNvPr id="25" name="node-marker">
            <a:extLst xmlns:a="http://schemas.openxmlformats.org/drawingml/2006/main">
              <a:ext uri="{FF2B5EF4-FFF2-40B4-BE49-F238E27FC236}">
                <a16:creationId xmlns:a16="http://schemas.microsoft.com/office/drawing/2014/main" id="{A829EF20-400C-499C-A428-2FDE224F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0055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node-title">
            <a:extLst xmlns:a="http://schemas.openxmlformats.org/drawingml/2006/main">
              <a:ext uri="{FF2B5EF4-FFF2-40B4-BE49-F238E27FC236}">
                <a16:creationId xmlns:a16="http://schemas.microsoft.com/office/drawing/2014/main" id="{CB4C9E2D-7967-4F91-84B1-9448482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Formula table</a:t>
            </a:r>
          </a:p>
        </p:txBody>
      </p:sp>
      <p:sp>
        <p:nvSpPr>
          <p:cNvPr id="27" name="node-note">
            <a:extLst xmlns:a="http://schemas.openxmlformats.org/drawingml/2006/main">
              <a:ext uri="{FF2B5EF4-FFF2-40B4-BE49-F238E27FC236}">
                <a16:creationId xmlns:a16="http://schemas.microsoft.com/office/drawing/2014/main" id="{42F8F682-CB5B-4AF2-B1CA-F02473AD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910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Step, temp, time, dose</a:t>
            </a:r>
          </a:p>
        </p:txBody>
      </p:sp>
      <p:sp>
        <p:nvSpPr>
          <p:cNvPr id="28" name="arch-node">
            <a:extLst xmlns:a="http://schemas.openxmlformats.org/drawingml/2006/main">
              <a:ext uri="{FF2B5EF4-FFF2-40B4-BE49-F238E27FC236}">
                <a16:creationId xmlns:a16="http://schemas.microsoft.com/office/drawing/2014/main" id="{7DEB0C01-CC9B-4837-8F77-503DA224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766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D4162"/>
            </a:solidFill>
            <a:prstDash val="solid"/>
          </a:ln>
        </p:spPr>
      </p:sp>
      <p:sp>
        <p:nvSpPr>
          <p:cNvPr id="29" name="node-marker">
            <a:extLst xmlns:a="http://schemas.openxmlformats.org/drawingml/2006/main">
              <a:ext uri="{FF2B5EF4-FFF2-40B4-BE49-F238E27FC236}">
                <a16:creationId xmlns:a16="http://schemas.microsoft.com/office/drawing/2014/main" id="{95335E35-2673-4294-9CA3-65177982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05225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node-title">
            <a:extLst xmlns:a="http://schemas.openxmlformats.org/drawingml/2006/main">
              <a:ext uri="{FF2B5EF4-FFF2-40B4-BE49-F238E27FC236}">
                <a16:creationId xmlns:a16="http://schemas.microsoft.com/office/drawing/2014/main" id="{3DEF446C-67F0-435A-84F3-F3A4BE16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2902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31" name="node-note">
            <a:extLst xmlns:a="http://schemas.openxmlformats.org/drawingml/2006/main">
              <a:ext uri="{FF2B5EF4-FFF2-40B4-BE49-F238E27FC236}">
                <a16:creationId xmlns:a16="http://schemas.microsoft.com/office/drawing/2014/main" id="{BE8CD180-9221-4E75-976D-D028073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957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Operating guidance</a:t>
            </a:r>
          </a:p>
        </p:txBody>
      </p:sp>
      <p:sp>
        <p:nvSpPr>
          <p:cNvPr id="32" name="arch-connector">
            <a:extLst xmlns:a="http://schemas.openxmlformats.org/drawingml/2006/main">
              <a:ext uri="{FF2B5EF4-FFF2-40B4-BE49-F238E27FC236}">
                <a16:creationId xmlns:a16="http://schemas.microsoft.com/office/drawing/2014/main" id="{E16BF9F9-F32C-4624-8C67-A02AAF0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05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arch-connector">
            <a:extLst xmlns:a="http://schemas.openxmlformats.org/drawingml/2006/main">
              <a:ext uri="{FF2B5EF4-FFF2-40B4-BE49-F238E27FC236}">
                <a16:creationId xmlns:a16="http://schemas.microsoft.com/office/drawing/2014/main" id="{524283E6-4169-46AF-9FB5-422523D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arch-connector">
            <a:extLst xmlns:a="http://schemas.openxmlformats.org/drawingml/2006/main">
              <a:ext uri="{FF2B5EF4-FFF2-40B4-BE49-F238E27FC236}">
                <a16:creationId xmlns:a16="http://schemas.microsoft.com/office/drawing/2014/main" id="{1FFCD806-0606-45C0-9B6F-FF6E0A83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527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arch-connector">
            <a:extLst xmlns:a="http://schemas.openxmlformats.org/drawingml/2006/main">
              <a:ext uri="{FF2B5EF4-FFF2-40B4-BE49-F238E27FC236}">
                <a16:creationId xmlns:a16="http://schemas.microsoft.com/office/drawing/2014/main" id="{99003313-0C6B-4B78-A6CE-C4ED66D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43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arch-connector">
            <a:extLst xmlns:a="http://schemas.openxmlformats.org/drawingml/2006/main">
              <a:ext uri="{FF2B5EF4-FFF2-40B4-BE49-F238E27FC236}">
                <a16:creationId xmlns:a16="http://schemas.microsoft.com/office/drawing/2014/main" id="{69EE2F07-0196-43DA-B3DB-AEFD29C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434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arch-connector">
            <a:extLst xmlns:a="http://schemas.openxmlformats.org/drawingml/2006/main">
              <a:ext uri="{FF2B5EF4-FFF2-40B4-BE49-F238E27FC236}">
                <a16:creationId xmlns:a16="http://schemas.microsoft.com/office/drawing/2014/main" id="{CCB600DD-B6E6-4D05-84CF-B01FA2DD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oute-label">
            <a:extLst xmlns:a="http://schemas.openxmlformats.org/drawingml/2006/main">
              <a:ext uri="{FF2B5EF4-FFF2-40B4-BE49-F238E27FC236}">
                <a16:creationId xmlns:a16="http://schemas.microsoft.com/office/drawing/2014/main" id="{CD8B2921-E93B-40DE-A363-47307CD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Decision routes</a:t>
            </a:r>
          </a:p>
        </p:txBody>
      </p:sp>
      <p:sp>
        <p:nvSpPr>
          <p:cNvPr id="39" name="route-dot">
            <a:extLst xmlns:a="http://schemas.openxmlformats.org/drawingml/2006/main">
              <a:ext uri="{FF2B5EF4-FFF2-40B4-BE49-F238E27FC236}">
                <a16:creationId xmlns:a16="http://schemas.microsoft.com/office/drawing/2014/main" id="{305540F3-64A2-4A5E-9240-9869113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24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oute-type">
            <a:extLst xmlns:a="http://schemas.openxmlformats.org/drawingml/2006/main">
              <a:ext uri="{FF2B5EF4-FFF2-40B4-BE49-F238E27FC236}">
                <a16:creationId xmlns:a16="http://schemas.microsoft.com/office/drawing/2014/main" id="{16A77932-9B3F-4E4A-A39C-B558C041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861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1" name="route-question">
            <a:extLst xmlns:a="http://schemas.openxmlformats.org/drawingml/2006/main">
              <a:ext uri="{FF2B5EF4-FFF2-40B4-BE49-F238E27FC236}">
                <a16:creationId xmlns:a16="http://schemas.microsoft.com/office/drawing/2014/main" id="{9903CCCE-2A78-4F04-82E3-1E5185BD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76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What product?</a:t>
            </a:r>
          </a:p>
        </p:txBody>
      </p:sp>
      <p:sp>
        <p:nvSpPr>
          <p:cNvPr id="42" name="route-dot">
            <a:extLst xmlns:a="http://schemas.openxmlformats.org/drawingml/2006/main">
              <a:ext uri="{FF2B5EF4-FFF2-40B4-BE49-F238E27FC236}">
                <a16:creationId xmlns:a16="http://schemas.microsoft.com/office/drawing/2014/main" id="{67AD2D43-DF70-477F-B3A5-FAE0DD6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52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oute-type">
            <a:extLst xmlns:a="http://schemas.openxmlformats.org/drawingml/2006/main">
              <a:ext uri="{FF2B5EF4-FFF2-40B4-BE49-F238E27FC236}">
                <a16:creationId xmlns:a16="http://schemas.microsoft.com/office/drawing/2014/main" id="{8287F13F-BF6C-4E2B-B847-74E53EC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4" name="route-question">
            <a:extLst xmlns:a="http://schemas.openxmlformats.org/drawingml/2006/main">
              <a:ext uri="{FF2B5EF4-FFF2-40B4-BE49-F238E27FC236}">
                <a16:creationId xmlns:a16="http://schemas.microsoft.com/office/drawing/2014/main" id="{00459FB4-B784-4401-BA37-FCD7E1E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Which program?</a:t>
            </a:r>
          </a:p>
        </p:txBody>
      </p:sp>
      <p:sp>
        <p:nvSpPr>
          <p:cNvPr id="45" name="route-dot">
            <a:extLst xmlns:a="http://schemas.openxmlformats.org/drawingml/2006/main">
              <a:ext uri="{FF2B5EF4-FFF2-40B4-BE49-F238E27FC236}">
                <a16:creationId xmlns:a16="http://schemas.microsoft.com/office/drawing/2014/main" id="{20CBD99E-DBFC-4A05-A6D3-AC794305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oute-type">
            <a:extLst xmlns:a="http://schemas.openxmlformats.org/drawingml/2006/main">
              <a:ext uri="{FF2B5EF4-FFF2-40B4-BE49-F238E27FC236}">
                <a16:creationId xmlns:a16="http://schemas.microsoft.com/office/drawing/2014/main" id="{AE2D6845-81F5-44F2-8960-B02D99C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43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7" name="route-question">
            <a:extLst xmlns:a="http://schemas.openxmlformats.org/drawingml/2006/main">
              <a:ext uri="{FF2B5EF4-FFF2-40B4-BE49-F238E27FC236}">
                <a16:creationId xmlns:a16="http://schemas.microsoft.com/office/drawing/2014/main" id="{B69C9EE0-1EC2-4002-AE77-E0F39C4A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33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How to operate?</a:t>
            </a:r>
          </a:p>
        </p:txBody>
      </p:sp>
      <p:sp>
        <p:nvSpPr>
          <p:cNvPr id="4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8B2DAD-3036-4ED7-8A0E-FE79232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857E2EA-D1CE-4D85-8E5B-488CFF89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D9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D91"/>
                </a:solidFill>
                <a:latin typeface="Aptos"/>
                <a:ea typeface="Aptos"/>
                <a:cs typeface="Aptos"/>
              </a:rPr>
              <a:t>Source: local Triumph Laundry Guide webapp files</a:t>
            </a:r>
          </a:p>
        </p:txBody>
      </p:sp>
      <p:sp>
        <p:nvSpPr>
          <p:cNvPr id="5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505F346-695D-4FD6-B058-4BBFE13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06791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52FC7B9-5F1C-4FB0-8BA9-2ED6470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g-depth">
            <a:extLst xmlns:a="http://schemas.openxmlformats.org/drawingml/2006/main">
              <a:ext uri="{FF2B5EF4-FFF2-40B4-BE49-F238E27FC236}">
                <a16:creationId xmlns:a16="http://schemas.microsoft.com/office/drawing/2014/main" id="{55C79061-9932-4BB8-8EA3-33E207E7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g-accent-line">
            <a:extLst xmlns:a="http://schemas.openxmlformats.org/drawingml/2006/main">
              <a:ext uri="{FF2B5EF4-FFF2-40B4-BE49-F238E27FC236}">
                <a16:creationId xmlns:a16="http://schemas.microsoft.com/office/drawing/2014/main" id="{188126F6-4807-4909-A838-61C19C1F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8107BF9B-C584-4318-B18B-C6B33023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F1677040-4092-46A2-8676-D126C991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FLOOR EXPERIENCE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E0A31C1-0E00-4767-87FA-52C4BAB0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542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Floor use is supported by fast navigation and clear state controls.</a:t>
            </a:r>
          </a:p>
        </p:txBody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1FA2F6CF-B9C7-44E6-B554-27C9749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9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UI keeps repeated operational tasks close: persistent navigation, dark/light mode, section switching, and filter state all support quick checks during active laundry work.</a:t>
            </a:r>
          </a:p>
        </p:txBody>
      </p:sp>
      <p:sp>
        <p:nvSpPr>
          <p:cNvPr id="8" name="ux-screen-frame">
            <a:extLst xmlns:a="http://schemas.openxmlformats.org/drawingml/2006/main">
              <a:ext uri="{FF2B5EF4-FFF2-40B4-BE49-F238E27FC236}">
                <a16:creationId xmlns:a16="http://schemas.microsoft.com/office/drawing/2014/main" id="{5B695D58-2EE1-40EC-8F7E-58C6986C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800100"/>
            <a:ext cx="4610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4"/>
          </a:solidFill>
          <a:ln xmlns:a="http://schemas.openxmlformats.org/drawingml/2006/main" w="9525">
            <a:solidFill>
              <a:srgbClr val="26385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364f9a113473c"/>
          <a:srcRect xmlns:a="http://schemas.openxmlformats.org/drawingml/2006/main" l="3718" t="0" r="37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876300"/>
            <a:ext cx="4457700" cy="3009900"/>
          </a:xfrm>
          <a:prstGeom xmlns:a="http://schemas.openxmlformats.org/drawingml/2006/main" prst="rect">
            <a:avLst/>
          </a:prstGeom>
        </p:spPr>
      </p:pic>
      <p:sp>
        <p:nvSpPr>
          <p:cNvPr id="10" name="capability-row">
            <a:extLst xmlns:a="http://schemas.openxmlformats.org/drawingml/2006/main">
              <a:ext uri="{FF2B5EF4-FFF2-40B4-BE49-F238E27FC236}">
                <a16:creationId xmlns:a16="http://schemas.microsoft.com/office/drawing/2014/main" id="{300A99A9-46DD-4467-906D-C6D7681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504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11" name="cap-dot">
            <a:extLst xmlns:a="http://schemas.openxmlformats.org/drawingml/2006/main">
              <a:ext uri="{FF2B5EF4-FFF2-40B4-BE49-F238E27FC236}">
                <a16:creationId xmlns:a16="http://schemas.microsoft.com/office/drawing/2014/main" id="{5F12BC56-B46E-4C47-A845-8802B632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cap-title">
            <a:extLst xmlns:a="http://schemas.openxmlformats.org/drawingml/2006/main">
              <a:ext uri="{FF2B5EF4-FFF2-40B4-BE49-F238E27FC236}">
                <a16:creationId xmlns:a16="http://schemas.microsoft.com/office/drawing/2014/main" id="{5450E00C-B689-43C7-B38C-7920939F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Persistent sections</a:t>
            </a:r>
          </a:p>
        </p:txBody>
      </p:sp>
      <p:sp>
        <p:nvSpPr>
          <p:cNvPr id="13" name="cap-note">
            <a:extLst xmlns:a="http://schemas.openxmlformats.org/drawingml/2006/main">
              <a:ext uri="{FF2B5EF4-FFF2-40B4-BE49-F238E27FC236}">
                <a16:creationId xmlns:a16="http://schemas.microsoft.com/office/drawing/2014/main" id="{FEF339C7-0496-45BC-88EA-15BA3467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Home, Chemicals, Programs, Tips remain one click away.</a:t>
            </a:r>
          </a:p>
        </p:txBody>
      </p:sp>
      <p:sp>
        <p:nvSpPr>
          <p:cNvPr id="14" name="capability-row">
            <a:extLst xmlns:a="http://schemas.openxmlformats.org/drawingml/2006/main">
              <a:ext uri="{FF2B5EF4-FFF2-40B4-BE49-F238E27FC236}">
                <a16:creationId xmlns:a16="http://schemas.microsoft.com/office/drawing/2014/main" id="{1D06CE31-7781-41F4-A8DE-A3116DD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504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15" name="cap-dot">
            <a:extLst xmlns:a="http://schemas.openxmlformats.org/drawingml/2006/main">
              <a:ext uri="{FF2B5EF4-FFF2-40B4-BE49-F238E27FC236}">
                <a16:creationId xmlns:a16="http://schemas.microsoft.com/office/drawing/2014/main" id="{1F638CD7-AC4E-490F-B755-9624088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cap-title">
            <a:extLst xmlns:a="http://schemas.openxmlformats.org/drawingml/2006/main">
              <a:ext uri="{FF2B5EF4-FFF2-40B4-BE49-F238E27FC236}">
                <a16:creationId xmlns:a16="http://schemas.microsoft.com/office/drawing/2014/main" id="{9BE02D04-2F4B-4E1D-8314-B096E6CF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Search-first lookup</a:t>
            </a:r>
          </a:p>
        </p:txBody>
      </p:sp>
      <p:sp>
        <p:nvSpPr>
          <p:cNvPr id="17" name="cap-note">
            <a:extLst xmlns:a="http://schemas.openxmlformats.org/drawingml/2006/main">
              <a:ext uri="{FF2B5EF4-FFF2-40B4-BE49-F238E27FC236}">
                <a16:creationId xmlns:a16="http://schemas.microsoft.com/office/drawing/2014/main" id="{910D8325-942B-40E8-A5A2-01C8ED3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chemical search field targets name, code, and function.</a:t>
            </a:r>
          </a:p>
        </p:txBody>
      </p:sp>
      <p:sp>
        <p:nvSpPr>
          <p:cNvPr id="18" name="capability-row">
            <a:extLst xmlns:a="http://schemas.openxmlformats.org/drawingml/2006/main">
              <a:ext uri="{FF2B5EF4-FFF2-40B4-BE49-F238E27FC236}">
                <a16:creationId xmlns:a16="http://schemas.microsoft.com/office/drawing/2014/main" id="{C75E87C5-15C9-4EB4-8FED-4B71A603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504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19" name="cap-dot">
            <a:extLst xmlns:a="http://schemas.openxmlformats.org/drawingml/2006/main">
              <a:ext uri="{FF2B5EF4-FFF2-40B4-BE49-F238E27FC236}">
                <a16:creationId xmlns:a16="http://schemas.microsoft.com/office/drawing/2014/main" id="{E25E8FD6-C4DA-4876-A32D-5403F96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p-title">
            <a:extLst xmlns:a="http://schemas.openxmlformats.org/drawingml/2006/main">
              <a:ext uri="{FF2B5EF4-FFF2-40B4-BE49-F238E27FC236}">
                <a16:creationId xmlns:a16="http://schemas.microsoft.com/office/drawing/2014/main" id="{4D4F1987-94B6-49C9-A230-59E8DA86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Type filters</a:t>
            </a:r>
          </a:p>
        </p:txBody>
      </p:sp>
      <p:sp>
        <p:nvSpPr>
          <p:cNvPr id="21" name="cap-note">
            <a:extLst xmlns:a="http://schemas.openxmlformats.org/drawingml/2006/main">
              <a:ext uri="{FF2B5EF4-FFF2-40B4-BE49-F238E27FC236}">
                <a16:creationId xmlns:a16="http://schemas.microsoft.com/office/drawing/2014/main" id="{DC5EE4D5-D92D-46EC-926C-D31C3F3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5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Bleach, softener, builder, neutralizer, and detergent reduce scanning.</a:t>
            </a:r>
          </a:p>
        </p:txBody>
      </p:sp>
      <p:sp>
        <p:nvSpPr>
          <p:cNvPr id="22" name="capability-row">
            <a:extLst xmlns:a="http://schemas.openxmlformats.org/drawingml/2006/main">
              <a:ext uri="{FF2B5EF4-FFF2-40B4-BE49-F238E27FC236}">
                <a16:creationId xmlns:a16="http://schemas.microsoft.com/office/drawing/2014/main" id="{55FA9331-876F-44EF-BCD7-0AAB2AE6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504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23" name="cap-dot">
            <a:extLst xmlns:a="http://schemas.openxmlformats.org/drawingml/2006/main">
              <a:ext uri="{FF2B5EF4-FFF2-40B4-BE49-F238E27FC236}">
                <a16:creationId xmlns:a16="http://schemas.microsoft.com/office/drawing/2014/main" id="{9268D678-A0EF-4BBB-9FAC-5E4235DF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ap-title">
            <a:extLst xmlns:a="http://schemas.openxmlformats.org/drawingml/2006/main">
              <a:ext uri="{FF2B5EF4-FFF2-40B4-BE49-F238E27FC236}">
                <a16:creationId xmlns:a16="http://schemas.microsoft.com/office/drawing/2014/main" id="{FF6FAFE7-0C4E-49F6-A31F-D5B0E83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Theme control</a:t>
            </a:r>
          </a:p>
        </p:txBody>
      </p:sp>
      <p:sp>
        <p:nvSpPr>
          <p:cNvPr id="25" name="cap-note">
            <a:extLst xmlns:a="http://schemas.openxmlformats.org/drawingml/2006/main">
              <a:ext uri="{FF2B5EF4-FFF2-40B4-BE49-F238E27FC236}">
                <a16:creationId xmlns:a16="http://schemas.microsoft.com/office/drawing/2014/main" id="{C6DBFFAC-E2D6-4CDA-B4F4-26254BCC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48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Dark/light mode supports different room lighting and device use.</a:t>
            </a:r>
          </a:p>
        </p:txBody>
      </p:sp>
      <p:sp>
        <p:nvSpPr>
          <p:cNvPr id="26" name="quality-bridge">
            <a:extLst xmlns:a="http://schemas.openxmlformats.org/drawingml/2006/main">
              <a:ext uri="{FF2B5EF4-FFF2-40B4-BE49-F238E27FC236}">
                <a16:creationId xmlns:a16="http://schemas.microsoft.com/office/drawing/2014/main" id="{16FB6D26-70DE-4CD3-AB47-5EED48B1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7200"/>
            <a:ext cx="4457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27" name="value-label">
            <a:extLst xmlns:a="http://schemas.openxmlformats.org/drawingml/2006/main">
              <a:ext uri="{FF2B5EF4-FFF2-40B4-BE49-F238E27FC236}">
                <a16:creationId xmlns:a16="http://schemas.microsoft.com/office/drawing/2014/main" id="{736CB605-0068-4A5E-9868-CF8CE80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Operational value</a:t>
            </a:r>
          </a:p>
        </p:txBody>
      </p:sp>
      <p:sp>
        <p:nvSpPr>
          <p:cNvPr id="28" name="value-body">
            <a:extLst xmlns:a="http://schemas.openxmlformats.org/drawingml/2006/main">
              <a:ext uri="{FF2B5EF4-FFF2-40B4-BE49-F238E27FC236}">
                <a16:creationId xmlns:a16="http://schemas.microsoft.com/office/drawing/2014/main" id="{7B383FCE-0F83-4D5C-9D9D-573D9468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app reduces the need to remember formulas, locate PDFs, or ask for routine reference details during a wash cycle.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EEF3E6-2F3A-4644-9781-77EC422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AE8E13-19BF-4D07-8BCE-1ABB6B8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D9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D91"/>
                </a:solidFill>
                <a:latin typeface="Aptos"/>
                <a:ea typeface="Aptos"/>
                <a:cs typeface="Aptos"/>
              </a:rPr>
              <a:t>Source: local Triumph Laundry Guide webapp files</a:t>
            </a:r>
          </a:p>
        </p:txBody>
      </p:sp>
      <p:sp>
        <p:nvSpPr>
          <p:cNvPr id="3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6CD778F-3805-4EC5-B477-7B8FA99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47018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A1B3081-7C1F-4CB6-B013-D3B5F718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bg-depth">
            <a:extLst xmlns:a="http://schemas.openxmlformats.org/drawingml/2006/main">
              <a:ext uri="{FF2B5EF4-FFF2-40B4-BE49-F238E27FC236}">
                <a16:creationId xmlns:a16="http://schemas.microsoft.com/office/drawing/2014/main" id="{57649F2B-8DF1-4929-8718-7F82EC7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g-accent-line">
            <a:extLst xmlns:a="http://schemas.openxmlformats.org/drawingml/2006/main">
              <a:ext uri="{FF2B5EF4-FFF2-40B4-BE49-F238E27FC236}">
                <a16:creationId xmlns:a16="http://schemas.microsoft.com/office/drawing/2014/main" id="{417D3F4C-795C-4E45-A0C0-37E53A3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A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E9980D12-4280-4185-A094-C5647B08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EBC85E03-76A6-40A0-A499-8CD4CA3E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C7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C7E8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9A96B66-503B-4E17-9067-6F2F4572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The next version can move the guide toward an operating control layer.</a:t>
            </a:r>
          </a:p>
        </p:txBody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2A3D9673-F6B2-404F-835C-B38B36C5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61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The current webapp already centralizes knowledge. A pragmatic roadmap can add offline access, printable formula views, update control, and eventually inventory or usage signals without changing the core workflow.</a:t>
            </a:r>
          </a:p>
        </p:txBody>
      </p:sp>
      <p:sp>
        <p:nvSpPr>
          <p:cNvPr id="8" name="roadmap-phase">
            <a:extLst xmlns:a="http://schemas.openxmlformats.org/drawingml/2006/main">
              <a:ext uri="{FF2B5EF4-FFF2-40B4-BE49-F238E27FC236}">
                <a16:creationId xmlns:a16="http://schemas.microsoft.com/office/drawing/2014/main" id="{AFE81D74-B635-4EBB-AB1D-438F3D22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190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9" name="phase-dot">
            <a:extLst xmlns:a="http://schemas.openxmlformats.org/drawingml/2006/main">
              <a:ext uri="{FF2B5EF4-FFF2-40B4-BE49-F238E27FC236}">
                <a16:creationId xmlns:a16="http://schemas.microsoft.com/office/drawing/2014/main" id="{8F8211F4-443D-43AB-8E56-0C9C75C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hase-label">
            <a:extLst xmlns:a="http://schemas.openxmlformats.org/drawingml/2006/main">
              <a:ext uri="{FF2B5EF4-FFF2-40B4-BE49-F238E27FC236}">
                <a16:creationId xmlns:a16="http://schemas.microsoft.com/office/drawing/2014/main" id="{9607CA1C-0791-4749-AA74-F486A38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C8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C877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11" name="phase-title">
            <a:extLst xmlns:a="http://schemas.openxmlformats.org/drawingml/2006/main">
              <a:ext uri="{FF2B5EF4-FFF2-40B4-BE49-F238E27FC236}">
                <a16:creationId xmlns:a16="http://schemas.microsoft.com/office/drawing/2014/main" id="{4E915D06-1E30-49A7-B2E4-815B0043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Reference guide</a:t>
            </a:r>
          </a:p>
        </p:txBody>
      </p:sp>
      <p:sp>
        <p:nvSpPr>
          <p:cNvPr id="12" name="phase-note">
            <a:extLst xmlns:a="http://schemas.openxmlformats.org/drawingml/2006/main">
              <a:ext uri="{FF2B5EF4-FFF2-40B4-BE49-F238E27FC236}">
                <a16:creationId xmlns:a16="http://schemas.microsoft.com/office/drawing/2014/main" id="{2C7A91F3-599D-4688-ADFD-5270C1BC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Static chemical and program lookup</a:t>
            </a:r>
          </a:p>
        </p:txBody>
      </p:sp>
      <p:sp>
        <p:nvSpPr>
          <p:cNvPr id="13" name="roadmap-connector">
            <a:extLst xmlns:a="http://schemas.openxmlformats.org/drawingml/2006/main">
              <a:ext uri="{FF2B5EF4-FFF2-40B4-BE49-F238E27FC236}">
                <a16:creationId xmlns:a16="http://schemas.microsoft.com/office/drawing/2014/main" id="{4C47D33A-8C72-44FF-8DF0-E862D8A1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oadmap-phase">
            <a:extLst xmlns:a="http://schemas.openxmlformats.org/drawingml/2006/main">
              <a:ext uri="{FF2B5EF4-FFF2-40B4-BE49-F238E27FC236}">
                <a16:creationId xmlns:a16="http://schemas.microsoft.com/office/drawing/2014/main" id="{921C46CA-763A-4CE6-85AA-6E33D858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190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15" name="phase-dot">
            <a:extLst xmlns:a="http://schemas.openxmlformats.org/drawingml/2006/main">
              <a:ext uri="{FF2B5EF4-FFF2-40B4-BE49-F238E27FC236}">
                <a16:creationId xmlns:a16="http://schemas.microsoft.com/office/drawing/2014/main" id="{643C7E8E-B96D-4C91-A6B7-575625D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hase-label">
            <a:extLst xmlns:a="http://schemas.openxmlformats.org/drawingml/2006/main">
              <a:ext uri="{FF2B5EF4-FFF2-40B4-BE49-F238E27FC236}">
                <a16:creationId xmlns:a16="http://schemas.microsoft.com/office/drawing/2014/main" id="{AB78DF78-8969-4AED-80B9-717BE44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24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C7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C7E8"/>
                </a:solidFill>
                <a:latin typeface="Aptos"/>
                <a:ea typeface="Aptos"/>
                <a:cs typeface="Aptos"/>
              </a:rPr>
              <a:t>Near term</a:t>
            </a:r>
          </a:p>
        </p:txBody>
      </p:sp>
      <p:sp>
        <p:nvSpPr>
          <p:cNvPr id="17" name="phase-title">
            <a:extLst xmlns:a="http://schemas.openxmlformats.org/drawingml/2006/main">
              <a:ext uri="{FF2B5EF4-FFF2-40B4-BE49-F238E27FC236}">
                <a16:creationId xmlns:a16="http://schemas.microsoft.com/office/drawing/2014/main" id="{B5716463-2E00-4BED-8F9D-D72006FE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Floor-ready access</a:t>
            </a:r>
          </a:p>
        </p:txBody>
      </p:sp>
      <p:sp>
        <p:nvSpPr>
          <p:cNvPr id="18" name="phase-note">
            <a:extLst xmlns:a="http://schemas.openxmlformats.org/drawingml/2006/main">
              <a:ext uri="{FF2B5EF4-FFF2-40B4-BE49-F238E27FC236}">
                <a16:creationId xmlns:a16="http://schemas.microsoft.com/office/drawing/2014/main" id="{E6625574-2BB9-4BA1-BA1F-E248B3A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Offline/PWA, print views, QR entry</a:t>
            </a:r>
          </a:p>
        </p:txBody>
      </p:sp>
      <p:sp>
        <p:nvSpPr>
          <p:cNvPr id="19" name="roadmap-connector">
            <a:extLst xmlns:a="http://schemas.openxmlformats.org/drawingml/2006/main">
              <a:ext uri="{FF2B5EF4-FFF2-40B4-BE49-F238E27FC236}">
                <a16:creationId xmlns:a16="http://schemas.microsoft.com/office/drawing/2014/main" id="{4F499DD8-B223-4BBB-AA0F-4B439BA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oadmap-phase">
            <a:extLst xmlns:a="http://schemas.openxmlformats.org/drawingml/2006/main">
              <a:ext uri="{FF2B5EF4-FFF2-40B4-BE49-F238E27FC236}">
                <a16:creationId xmlns:a16="http://schemas.microsoft.com/office/drawing/2014/main" id="{4AB4C991-6C15-44D1-9D94-9A4AA287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190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21" name="phase-dot">
            <a:extLst xmlns:a="http://schemas.openxmlformats.org/drawingml/2006/main">
              <a:ext uri="{FF2B5EF4-FFF2-40B4-BE49-F238E27FC236}">
                <a16:creationId xmlns:a16="http://schemas.microsoft.com/office/drawing/2014/main" id="{742A5CCB-FA3B-496E-83B1-BBEFDD02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8129F1FA-AC7D-408D-9721-F9609979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E6A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E6A2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3" name="phase-title">
            <a:extLst xmlns:a="http://schemas.openxmlformats.org/drawingml/2006/main">
              <a:ext uri="{FF2B5EF4-FFF2-40B4-BE49-F238E27FC236}">
                <a16:creationId xmlns:a16="http://schemas.microsoft.com/office/drawing/2014/main" id="{92E9C1E4-1EE3-483C-9AF8-7E8E1A5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Controlled updates</a:t>
            </a:r>
          </a:p>
        </p:txBody>
      </p:sp>
      <p:sp>
        <p:nvSpPr>
          <p:cNvPr id="24" name="phase-note">
            <a:extLst xmlns:a="http://schemas.openxmlformats.org/drawingml/2006/main">
              <a:ext uri="{FF2B5EF4-FFF2-40B4-BE49-F238E27FC236}">
                <a16:creationId xmlns:a16="http://schemas.microsoft.com/office/drawing/2014/main" id="{5B1AB1E0-1621-4535-967E-D128B487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Manager edits, approval history</a:t>
            </a:r>
          </a:p>
        </p:txBody>
      </p:sp>
      <p:sp>
        <p:nvSpPr>
          <p:cNvPr id="25" name="roadmap-connector">
            <a:extLst xmlns:a="http://schemas.openxmlformats.org/drawingml/2006/main">
              <a:ext uri="{FF2B5EF4-FFF2-40B4-BE49-F238E27FC236}">
                <a16:creationId xmlns:a16="http://schemas.microsoft.com/office/drawing/2014/main" id="{51B06DD8-82D5-4366-A62A-5197CAE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oadmap-phase">
            <a:extLst xmlns:a="http://schemas.openxmlformats.org/drawingml/2006/main">
              <a:ext uri="{FF2B5EF4-FFF2-40B4-BE49-F238E27FC236}">
                <a16:creationId xmlns:a16="http://schemas.microsoft.com/office/drawing/2014/main" id="{76F852D4-7DA9-47AE-A714-74DAFC4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190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27" name="phase-dot">
            <a:extLst xmlns:a="http://schemas.openxmlformats.org/drawingml/2006/main">
              <a:ext uri="{FF2B5EF4-FFF2-40B4-BE49-F238E27FC236}">
                <a16:creationId xmlns:a16="http://schemas.microsoft.com/office/drawing/2014/main" id="{656D8262-98E5-4E08-AD55-63E2FE33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hase-label">
            <a:extLst xmlns:a="http://schemas.openxmlformats.org/drawingml/2006/main">
              <a:ext uri="{FF2B5EF4-FFF2-40B4-BE49-F238E27FC236}">
                <a16:creationId xmlns:a16="http://schemas.microsoft.com/office/drawing/2014/main" id="{69245696-AEA6-4E88-B9C5-9CAC3F2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9" name="phase-title">
            <a:extLst xmlns:a="http://schemas.openxmlformats.org/drawingml/2006/main">
              <a:ext uri="{FF2B5EF4-FFF2-40B4-BE49-F238E27FC236}">
                <a16:creationId xmlns:a16="http://schemas.microsoft.com/office/drawing/2014/main" id="{7FAA109D-087B-4187-B957-161F0E99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8FA"/>
                </a:solidFill>
                <a:latin typeface="Aptos Display"/>
                <a:ea typeface="Aptos Display"/>
                <a:cs typeface="Aptos Display"/>
              </a:rPr>
              <a:t>Operating signals</a:t>
            </a:r>
          </a:p>
        </p:txBody>
      </p:sp>
      <p:sp>
        <p:nvSpPr>
          <p:cNvPr id="30" name="phase-note">
            <a:extLst xmlns:a="http://schemas.openxmlformats.org/drawingml/2006/main">
              <a:ext uri="{FF2B5EF4-FFF2-40B4-BE49-F238E27FC236}">
                <a16:creationId xmlns:a16="http://schemas.microsoft.com/office/drawing/2014/main" id="{902BFD74-78BA-40B5-AACD-1CF235B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6B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AA6B7"/>
                </a:solidFill>
                <a:latin typeface="Aptos"/>
                <a:ea typeface="Aptos"/>
                <a:cs typeface="Aptos"/>
              </a:rPr>
              <a:t>Chemical stock and usage tracking</a:t>
            </a:r>
          </a:p>
        </p:txBody>
      </p:sp>
      <p:sp>
        <p:nvSpPr>
          <p:cNvPr id="31" name="value-equation">
            <a:extLst xmlns:a="http://schemas.openxmlformats.org/drawingml/2006/main">
              <a:ext uri="{FF2B5EF4-FFF2-40B4-BE49-F238E27FC236}">
                <a16:creationId xmlns:a16="http://schemas.microsoft.com/office/drawing/2014/main" id="{27541D81-FBB7-454F-AF1A-443DC1A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5"/>
          </a:solidFill>
          <a:ln xmlns:a="http://schemas.openxmlformats.org/drawingml/2006/main" w="9525">
            <a:solidFill>
              <a:srgbClr val="2B3D5C"/>
            </a:solidFill>
            <a:prstDash val="solid"/>
          </a:ln>
        </p:spPr>
      </p:sp>
      <p:sp>
        <p:nvSpPr>
          <p:cNvPr id="32" name="bridge-label">
            <a:extLst xmlns:a="http://schemas.openxmlformats.org/drawingml/2006/main">
              <a:ext uri="{FF2B5EF4-FFF2-40B4-BE49-F238E27FC236}">
                <a16:creationId xmlns:a16="http://schemas.microsoft.com/office/drawing/2014/main" id="{96C62D86-55D6-41CC-8820-09B70A6C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95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Value bridge</a:t>
            </a:r>
          </a:p>
        </p:txBody>
      </p:sp>
      <p:sp>
        <p:nvSpPr>
          <p:cNvPr id="33" name="value-dot">
            <a:extLst xmlns:a="http://schemas.openxmlformats.org/drawingml/2006/main">
              <a:ext uri="{FF2B5EF4-FFF2-40B4-BE49-F238E27FC236}">
                <a16:creationId xmlns:a16="http://schemas.microsoft.com/office/drawing/2014/main" id="{E6761A1D-2A28-4E14-A187-38ACA4CC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value-item">
            <a:extLst xmlns:a="http://schemas.openxmlformats.org/drawingml/2006/main">
              <a:ext uri="{FF2B5EF4-FFF2-40B4-BE49-F238E27FC236}">
                <a16:creationId xmlns:a16="http://schemas.microsoft.com/office/drawing/2014/main" id="{5D3D9738-D48F-49A2-B258-6CD18AC7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35" name="value-dot">
            <a:extLst xmlns:a="http://schemas.openxmlformats.org/drawingml/2006/main">
              <a:ext uri="{FF2B5EF4-FFF2-40B4-BE49-F238E27FC236}">
                <a16:creationId xmlns:a16="http://schemas.microsoft.com/office/drawing/2014/main" id="{D479D670-6430-49B0-9633-ACCF2CDB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8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value-item">
            <a:extLst xmlns:a="http://schemas.openxmlformats.org/drawingml/2006/main">
              <a:ext uri="{FF2B5EF4-FFF2-40B4-BE49-F238E27FC236}">
                <a16:creationId xmlns:a16="http://schemas.microsoft.com/office/drawing/2014/main" id="{2302D0A2-656C-4653-8317-00C20E0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37" name="value-dot">
            <a:extLst xmlns:a="http://schemas.openxmlformats.org/drawingml/2006/main">
              <a:ext uri="{FF2B5EF4-FFF2-40B4-BE49-F238E27FC236}">
                <a16:creationId xmlns:a16="http://schemas.microsoft.com/office/drawing/2014/main" id="{43B30964-802B-4314-95A7-69C969C9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14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E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value-item">
            <a:extLst xmlns:a="http://schemas.openxmlformats.org/drawingml/2006/main">
              <a:ext uri="{FF2B5EF4-FFF2-40B4-BE49-F238E27FC236}">
                <a16:creationId xmlns:a16="http://schemas.microsoft.com/office/drawing/2014/main" id="{6A924934-189E-4BE7-93FA-18A24F38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39" name="value-dot">
            <a:extLst xmlns:a="http://schemas.openxmlformats.org/drawingml/2006/main">
              <a:ext uri="{FF2B5EF4-FFF2-40B4-BE49-F238E27FC236}">
                <a16:creationId xmlns:a16="http://schemas.microsoft.com/office/drawing/2014/main" id="{7A258BDF-76A5-4645-BF3C-4E96D74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value-item">
            <a:extLst xmlns:a="http://schemas.openxmlformats.org/drawingml/2006/main">
              <a:ext uri="{FF2B5EF4-FFF2-40B4-BE49-F238E27FC236}">
                <a16:creationId xmlns:a16="http://schemas.microsoft.com/office/drawing/2014/main" id="{F7433624-BE59-4ECD-943C-3A26A75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8FA"/>
                </a:solidFill>
                <a:latin typeface="Aptos"/>
                <a:ea typeface="Aptos"/>
                <a:cs typeface="Aptos"/>
              </a:rPr>
              <a:t>Less rework</a:t>
            </a:r>
          </a:p>
        </p:txBody>
      </p:sp>
      <p:sp>
        <p:nvSpPr>
          <p:cNvPr id="41" name="close-label">
            <a:extLst xmlns:a="http://schemas.openxmlformats.org/drawingml/2006/main">
              <a:ext uri="{FF2B5EF4-FFF2-40B4-BE49-F238E27FC236}">
                <a16:creationId xmlns:a16="http://schemas.microsoft.com/office/drawing/2014/main" id="{18721A9F-5B71-4E03-9054-5083979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Recommended close</a:t>
            </a:r>
          </a:p>
        </p:txBody>
      </p:sp>
      <p:sp>
        <p:nvSpPr>
          <p:cNvPr id="42" name="close-statement">
            <a:extLst xmlns:a="http://schemas.openxmlformats.org/drawingml/2006/main">
              <a:ext uri="{FF2B5EF4-FFF2-40B4-BE49-F238E27FC236}">
                <a16:creationId xmlns:a16="http://schemas.microsoft.com/office/drawing/2014/main" id="{36C1A347-2D04-4CBC-B380-0D56FF1C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8FA"/>
                </a:solidFill>
                <a:latin typeface="Aptos"/>
                <a:ea typeface="Aptos"/>
                <a:cs typeface="Aptos"/>
              </a:rPr>
              <a:t>Keep the current product simple, but make the next release operational: offline availability, printable formulas, and a controlled way for laundry leadership to update procedures.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18B5F4-B6C5-4396-B292-2DE8F43B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5D951C9-6FB4-4A68-921C-8CE2EAC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D9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D91"/>
                </a:solidFill>
                <a:latin typeface="Aptos"/>
                <a:ea typeface="Aptos"/>
                <a:cs typeface="Aptos"/>
              </a:rPr>
              <a:t>Source: local Triumph Laundry Guide webapp files</a:t>
            </a:r>
          </a:p>
        </p:txBody>
      </p:sp>
      <p:sp>
        <p:nvSpPr>
          <p:cNvPr id="4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6161AB0-314B-4176-BFB6-AD606FDA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81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5A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5A05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791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2026-05-21T00:25:33.0680000Z</dcterms:created>
  <dcterms:modified xsi:type="dcterms:W3CDTF">2026-05-21T00:25:33.0690000Z</dcterms:modified>
</coreProperties>
</file>